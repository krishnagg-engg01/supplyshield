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mn-lt"/>
              </a:defRPr>
            </a:pPr>
            <a:r>
              <a:rPr lang="en-US" sz="1200" b="0" i="0" u="none" strike="noStrike">
                <a:solidFill>
                  <a:srgbClr val="FFFFFF"/>
                </a:solidFill>
                <a:latin typeface="+mn-lt"/>
              </a:rPr>
              <a:t>Projected stock, units at end of day</a:t>
            </a:r>
          </a:p>
        </c:rich>
      </c:tx>
      <c:overlay val="0"/>
    </c:title>
    <c:autoTitleDeleted val="0"/>
    <c:plotArea>
      <c:layout/>
      <c:scatterChart>
        <c:scatterStyle val="lineMarker"/>
        <c:varyColors val="0"/>
        <c:ser>
          <c:idx val="0"/>
          <c:order val="0"/>
          <c:tx>
            <c:strRef>
              <c:f>Sheet1!$B$1</c:f>
              <c:strCache>
                <c:ptCount val="1"/>
                <c:pt idx="0">
                  <c:v>No disruption</c:v>
                </c:pt>
              </c:strCache>
            </c:strRef>
          </c:tx>
          <c:spPr>
            <a:ln w="31750" cap="flat">
              <a:solidFill>
                <a:srgbClr val="6B7A99"/>
              </a:solidFill>
              <a:prstDash val="solid"/>
              <a:round/>
            </a:ln>
            <a:effectLst/>
          </c:spPr>
          <c:marker>
            <c:symbol val="none"/>
          </c:marker>
          <c:xVal>
            <c:numRef>
              <c:f>Sheet1!$A$2:$A$46</c:f>
              <c:numCache>
                <c:formatCode>General</c:formatCode>
                <c:ptCount val="4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numCache>
            </c:numRef>
          </c:xVal>
          <c:yVal>
            <c:numRef>
              <c:f>Sheet1!$B$2:$B$46</c:f>
              <c:numCache>
                <c:formatCode>General</c:formatCode>
                <c:ptCount val="45"/>
                <c:pt idx="0">
                  <c:v>4540</c:v>
                </c:pt>
                <c:pt idx="1">
                  <c:v>4280</c:v>
                </c:pt>
                <c:pt idx="2">
                  <c:v>4020</c:v>
                </c:pt>
                <c:pt idx="3">
                  <c:v>3760</c:v>
                </c:pt>
                <c:pt idx="4">
                  <c:v>3500</c:v>
                </c:pt>
                <c:pt idx="5">
                  <c:v>3240</c:v>
                </c:pt>
                <c:pt idx="6">
                  <c:v>2980</c:v>
                </c:pt>
                <c:pt idx="7">
                  <c:v>2720</c:v>
                </c:pt>
                <c:pt idx="8">
                  <c:v>2460</c:v>
                </c:pt>
                <c:pt idx="9">
                  <c:v>2200</c:v>
                </c:pt>
                <c:pt idx="10">
                  <c:v>1940</c:v>
                </c:pt>
                <c:pt idx="11">
                  <c:v>1680</c:v>
                </c:pt>
                <c:pt idx="12">
                  <c:v>1420</c:v>
                </c:pt>
                <c:pt idx="13">
                  <c:v>1160</c:v>
                </c:pt>
                <c:pt idx="14">
                  <c:v>900</c:v>
                </c:pt>
                <c:pt idx="15">
                  <c:v>640</c:v>
                </c:pt>
                <c:pt idx="16">
                  <c:v>6380</c:v>
                </c:pt>
                <c:pt idx="17">
                  <c:v>6120</c:v>
                </c:pt>
                <c:pt idx="18">
                  <c:v>5860</c:v>
                </c:pt>
                <c:pt idx="19">
                  <c:v>5600</c:v>
                </c:pt>
                <c:pt idx="20">
                  <c:v>5340</c:v>
                </c:pt>
                <c:pt idx="21">
                  <c:v>5080</c:v>
                </c:pt>
                <c:pt idx="22">
                  <c:v>4820</c:v>
                </c:pt>
                <c:pt idx="23">
                  <c:v>4560</c:v>
                </c:pt>
                <c:pt idx="24">
                  <c:v>4300</c:v>
                </c:pt>
                <c:pt idx="25">
                  <c:v>4040</c:v>
                </c:pt>
                <c:pt idx="26">
                  <c:v>3780</c:v>
                </c:pt>
                <c:pt idx="27">
                  <c:v>3520</c:v>
                </c:pt>
                <c:pt idx="28">
                  <c:v>3260</c:v>
                </c:pt>
                <c:pt idx="29">
                  <c:v>3000</c:v>
                </c:pt>
                <c:pt idx="30">
                  <c:v>5740</c:v>
                </c:pt>
                <c:pt idx="31">
                  <c:v>5480</c:v>
                </c:pt>
                <c:pt idx="32">
                  <c:v>5220</c:v>
                </c:pt>
                <c:pt idx="33">
                  <c:v>4960</c:v>
                </c:pt>
                <c:pt idx="34">
                  <c:v>4700</c:v>
                </c:pt>
                <c:pt idx="35">
                  <c:v>4440</c:v>
                </c:pt>
                <c:pt idx="36">
                  <c:v>4180</c:v>
                </c:pt>
                <c:pt idx="37">
                  <c:v>3920</c:v>
                </c:pt>
                <c:pt idx="38">
                  <c:v>3660</c:v>
                </c:pt>
                <c:pt idx="39">
                  <c:v>3400</c:v>
                </c:pt>
                <c:pt idx="40">
                  <c:v>3140</c:v>
                </c:pt>
                <c:pt idx="41">
                  <c:v>2880</c:v>
                </c:pt>
                <c:pt idx="42">
                  <c:v>2620</c:v>
                </c:pt>
                <c:pt idx="43">
                  <c:v>2360</c:v>
                </c:pt>
                <c:pt idx="44">
                  <c:v>2100</c:v>
                </c:pt>
              </c:numCache>
            </c:numRef>
          </c:yVal>
          <c:smooth val="0"/>
          <c:extLst>
            <c:ext xmlns:c16="http://schemas.microsoft.com/office/drawing/2014/chart" uri="{C3380CC4-5D6E-409C-BE32-E72D297353CC}">
              <c16:uniqueId val="{00000000-F3BE-474C-B088-2740DD5017D0}"/>
            </c:ext>
          </c:extLst>
        </c:ser>
        <c:ser>
          <c:idx val="1"/>
          <c:order val="1"/>
          <c:tx>
            <c:strRef>
              <c:f>Sheet1!$C$1</c:f>
              <c:strCache>
                <c:ptCount val="1"/>
                <c:pt idx="0">
                  <c:v>No action</c:v>
                </c:pt>
              </c:strCache>
            </c:strRef>
          </c:tx>
          <c:spPr>
            <a:ln w="31750" cap="flat">
              <a:solidFill>
                <a:srgbClr val="F0616D"/>
              </a:solidFill>
              <a:prstDash val="solid"/>
              <a:round/>
            </a:ln>
            <a:effectLst/>
          </c:spPr>
          <c:marker>
            <c:symbol val="none"/>
          </c:marker>
          <c:xVal>
            <c:numRef>
              <c:f>Sheet1!$A$2:$A$46</c:f>
              <c:numCache>
                <c:formatCode>General</c:formatCode>
                <c:ptCount val="4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numCache>
            </c:numRef>
          </c:xVal>
          <c:yVal>
            <c:numRef>
              <c:f>Sheet1!$C$2:$C$46</c:f>
              <c:numCache>
                <c:formatCode>General</c:formatCode>
                <c:ptCount val="45"/>
                <c:pt idx="0">
                  <c:v>4540</c:v>
                </c:pt>
                <c:pt idx="1">
                  <c:v>4280</c:v>
                </c:pt>
                <c:pt idx="2">
                  <c:v>4020</c:v>
                </c:pt>
                <c:pt idx="3">
                  <c:v>3760</c:v>
                </c:pt>
                <c:pt idx="4">
                  <c:v>3500</c:v>
                </c:pt>
                <c:pt idx="5">
                  <c:v>3240</c:v>
                </c:pt>
                <c:pt idx="6">
                  <c:v>2980</c:v>
                </c:pt>
                <c:pt idx="7">
                  <c:v>2720</c:v>
                </c:pt>
                <c:pt idx="8">
                  <c:v>2460</c:v>
                </c:pt>
                <c:pt idx="9">
                  <c:v>2200</c:v>
                </c:pt>
                <c:pt idx="10">
                  <c:v>1940</c:v>
                </c:pt>
                <c:pt idx="11">
                  <c:v>1680</c:v>
                </c:pt>
                <c:pt idx="12">
                  <c:v>1420</c:v>
                </c:pt>
                <c:pt idx="13">
                  <c:v>1160</c:v>
                </c:pt>
                <c:pt idx="14">
                  <c:v>900</c:v>
                </c:pt>
                <c:pt idx="15">
                  <c:v>640</c:v>
                </c:pt>
                <c:pt idx="16">
                  <c:v>380</c:v>
                </c:pt>
                <c:pt idx="17">
                  <c:v>120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8740</c:v>
                </c:pt>
                <c:pt idx="38">
                  <c:v>8480</c:v>
                </c:pt>
                <c:pt idx="39">
                  <c:v>8220</c:v>
                </c:pt>
                <c:pt idx="40">
                  <c:v>7960</c:v>
                </c:pt>
                <c:pt idx="41">
                  <c:v>7700</c:v>
                </c:pt>
                <c:pt idx="42">
                  <c:v>7440</c:v>
                </c:pt>
                <c:pt idx="43">
                  <c:v>7180</c:v>
                </c:pt>
                <c:pt idx="44">
                  <c:v>6920</c:v>
                </c:pt>
              </c:numCache>
            </c:numRef>
          </c:yVal>
          <c:smooth val="0"/>
          <c:extLst>
            <c:ext xmlns:c16="http://schemas.microsoft.com/office/drawing/2014/chart" uri="{C3380CC4-5D6E-409C-BE32-E72D297353CC}">
              <c16:uniqueId val="{00000001-F3BE-474C-B088-2740DD5017D0}"/>
            </c:ext>
          </c:extLst>
        </c:ser>
        <c:ser>
          <c:idx val="2"/>
          <c:order val="2"/>
          <c:tx>
            <c:strRef>
              <c:f>Sheet1!$D$1</c:f>
              <c:strCache>
                <c:ptCount val="1"/>
                <c:pt idx="0">
                  <c:v>Recommended (Taipei)</c:v>
                </c:pt>
              </c:strCache>
            </c:strRef>
          </c:tx>
          <c:spPr>
            <a:ln w="31750" cap="flat">
              <a:solidFill>
                <a:srgbClr val="2DD4BF"/>
              </a:solidFill>
              <a:prstDash val="solid"/>
              <a:round/>
            </a:ln>
            <a:effectLst/>
          </c:spPr>
          <c:marker>
            <c:symbol val="none"/>
          </c:marker>
          <c:xVal>
            <c:numRef>
              <c:f>Sheet1!$A$2:$A$46</c:f>
              <c:numCache>
                <c:formatCode>General</c:formatCode>
                <c:ptCount val="4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numCache>
            </c:numRef>
          </c:xVal>
          <c:yVal>
            <c:numRef>
              <c:f>Sheet1!$D$2:$D$46</c:f>
              <c:numCache>
                <c:formatCode>General</c:formatCode>
                <c:ptCount val="45"/>
                <c:pt idx="0">
                  <c:v>4540</c:v>
                </c:pt>
                <c:pt idx="1">
                  <c:v>4280</c:v>
                </c:pt>
                <c:pt idx="2">
                  <c:v>4020</c:v>
                </c:pt>
                <c:pt idx="3">
                  <c:v>3760</c:v>
                </c:pt>
                <c:pt idx="4">
                  <c:v>3500</c:v>
                </c:pt>
                <c:pt idx="5">
                  <c:v>3240</c:v>
                </c:pt>
                <c:pt idx="6">
                  <c:v>2980</c:v>
                </c:pt>
                <c:pt idx="7">
                  <c:v>2720</c:v>
                </c:pt>
                <c:pt idx="8">
                  <c:v>2460</c:v>
                </c:pt>
                <c:pt idx="9">
                  <c:v>2200</c:v>
                </c:pt>
                <c:pt idx="10">
                  <c:v>1940</c:v>
                </c:pt>
                <c:pt idx="11">
                  <c:v>1680</c:v>
                </c:pt>
                <c:pt idx="12">
                  <c:v>1420</c:v>
                </c:pt>
                <c:pt idx="13">
                  <c:v>1160</c:v>
                </c:pt>
                <c:pt idx="14">
                  <c:v>5720</c:v>
                </c:pt>
                <c:pt idx="15">
                  <c:v>5460</c:v>
                </c:pt>
                <c:pt idx="16">
                  <c:v>5200</c:v>
                </c:pt>
                <c:pt idx="17">
                  <c:v>4940</c:v>
                </c:pt>
                <c:pt idx="18">
                  <c:v>4680</c:v>
                </c:pt>
                <c:pt idx="19">
                  <c:v>4420</c:v>
                </c:pt>
                <c:pt idx="20">
                  <c:v>4160</c:v>
                </c:pt>
                <c:pt idx="21">
                  <c:v>3900</c:v>
                </c:pt>
                <c:pt idx="22">
                  <c:v>3640</c:v>
                </c:pt>
                <c:pt idx="23">
                  <c:v>3380</c:v>
                </c:pt>
                <c:pt idx="24">
                  <c:v>3120</c:v>
                </c:pt>
                <c:pt idx="25">
                  <c:v>2860</c:v>
                </c:pt>
                <c:pt idx="26">
                  <c:v>2600</c:v>
                </c:pt>
                <c:pt idx="27">
                  <c:v>2340</c:v>
                </c:pt>
                <c:pt idx="28">
                  <c:v>2080</c:v>
                </c:pt>
                <c:pt idx="29">
                  <c:v>1820</c:v>
                </c:pt>
                <c:pt idx="30">
                  <c:v>1560</c:v>
                </c:pt>
                <c:pt idx="31">
                  <c:v>1300</c:v>
                </c:pt>
                <c:pt idx="32">
                  <c:v>1040</c:v>
                </c:pt>
                <c:pt idx="33">
                  <c:v>780</c:v>
                </c:pt>
                <c:pt idx="34">
                  <c:v>520</c:v>
                </c:pt>
                <c:pt idx="35">
                  <c:v>260</c:v>
                </c:pt>
                <c:pt idx="36">
                  <c:v>0</c:v>
                </c:pt>
                <c:pt idx="37">
                  <c:v>8740</c:v>
                </c:pt>
                <c:pt idx="38">
                  <c:v>8480</c:v>
                </c:pt>
                <c:pt idx="39">
                  <c:v>8220</c:v>
                </c:pt>
                <c:pt idx="40">
                  <c:v>7960</c:v>
                </c:pt>
                <c:pt idx="41">
                  <c:v>7700</c:v>
                </c:pt>
                <c:pt idx="42">
                  <c:v>7440</c:v>
                </c:pt>
                <c:pt idx="43">
                  <c:v>7180</c:v>
                </c:pt>
                <c:pt idx="44">
                  <c:v>6920</c:v>
                </c:pt>
              </c:numCache>
            </c:numRef>
          </c:yVal>
          <c:smooth val="0"/>
          <c:extLst>
            <c:ext xmlns:c16="http://schemas.microsoft.com/office/drawing/2014/chart" uri="{C3380CC4-5D6E-409C-BE32-E72D297353CC}">
              <c16:uniqueId val="{00000002-F3BE-474C-B088-2740DD5017D0}"/>
            </c:ext>
          </c:extLst>
        </c:ser>
        <c:dLbls>
          <c:showLegendKey val="0"/>
          <c:showVal val="0"/>
          <c:showCatName val="0"/>
          <c:showSerName val="0"/>
          <c:showPercent val="0"/>
          <c:showBubbleSize val="0"/>
        </c:dLbls>
        <c:axId val="2094734554"/>
        <c:axId val="2094734552"/>
      </c:scatterChart>
      <c:valAx>
        <c:axId val="2094734554"/>
        <c:scaling>
          <c:orientation val="minMax"/>
          <c:max val="44"/>
          <c:min val="0"/>
        </c:scaling>
        <c:delete val="0"/>
        <c:axPos val="b"/>
        <c:title>
          <c:tx>
            <c:rich>
              <a:bodyPr/>
              <a:lstStyle/>
              <a:p>
                <a:pPr>
                  <a:defRPr sz="1000" b="0" i="0" u="none" strike="noStrike">
                    <a:solidFill>
                      <a:srgbClr val="9FB1CF"/>
                    </a:solidFill>
                    <a:latin typeface="+mn-lt"/>
                  </a:defRPr>
                </a:pPr>
                <a:r>
                  <a:rPr lang="en-IN" sz="1000" b="0" i="0" u="none" strike="noStrike">
                    <a:solidFill>
                      <a:srgbClr val="9FB1CF"/>
                    </a:solidFill>
                    <a:latin typeface="+mn-lt"/>
                  </a:rPr>
                  <a:t>days from today</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9FB1CF"/>
                </a:solidFill>
                <a:latin typeface="+mn-lt"/>
              </a:defRPr>
            </a:pPr>
            <a:endParaRPr lang="en-US"/>
          </a:p>
        </c:txPr>
        <c:crossAx val="2094734552"/>
        <c:crosses val="autoZero"/>
        <c:crossBetween val="midCat"/>
        <c:majorUnit val="10"/>
      </c:valAx>
      <c:valAx>
        <c:axId val="2094734552"/>
        <c:scaling>
          <c:orientation val="minMax"/>
          <c:min val="0"/>
        </c:scaling>
        <c:delete val="0"/>
        <c:axPos val="l"/>
        <c:majorGridlines>
          <c:spPr>
            <a:ln w="6350" cap="flat">
              <a:solidFill>
                <a:srgbClr val="27406B"/>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000" b="0" i="0" u="none" strike="noStrike">
                <a:solidFill>
                  <a:srgbClr val="9FB1CF"/>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9FB1C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3081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(about 20 seconds). Start with the pain, not the product: a supplier is hit, a shortage follows, and a production line stops weeks later. Then the one-line value: SupplyShield shows which factories run dry first and compares recovery options before they do.
Point at the 18.5 days: this is a synthetic demo figure generated by the app's own scenario assumptions (supplier outage of 21 days is a planning assumption), not a measurement or a validated prediction. Say 'synthetic' out loud.
NOTE: your brief mentioned 27.3 days as an example; the supplied app actually outputs 18.5 days for this scenario, so the deck uses 18.5.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Left: a real, documented precedent. A fire at Renesas' Naka plant on 19 March 2021 damaged 23 machines; Renesas expected a restart to take more than three months, Toyota and Nissan planned production cuts, and by 1 June output was around 88% of pre-fire levels with full production expected in mid-June (Embedded Computing Design, 30 Mar 2021; AP, 1 Jun 2021).
Right: our demo scenario is FICTIONAL. 'Shenzhen MicroSemi' is an invented supplier in synthetic data. We use the real event only to show why this decision problem matters; we do not claim our numbers describe Renesas or any real company.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A disruption does not hit a factory directly; it travels supplier → shipment → inventory → production line. Operations teams need three answers: which components, which shipments, which factories and lines — and then they must choose between recovery responses that trade off cost, time and risk. In many companies that data sits in separate systems, so this tracing is slow and manual. (This framing follows the project README's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The workflow in four steps. Examine: choose a disruption. The app supports three scenario types: supplier failure, shipment disruption including port or route closure, and inventory shortage. Assess: it traces the cascade and projects when stock runs out. Compare: recovery options are scored against a no-action baseline. Decide: approval is flagged and a human decision is recorded.
Two honest points to say aloud: it recommends and never executes anything; and there is no machine learning in it, so the logic is deterministic and every assumption is visible. (Wording note: the app examines recorded or user-defined disruptions — it does not auto-detect from live feeds.)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 switch to the live app here if you can. Point at four things on the Command Center: risk index 31 out of 100 (click 'How is this calculated?' to show the formula); 2 of 8 positions at stockout risk; earliest projected stockout 18.5 days at the Chennai plant; estimated no-action cost of ₹94.76 lakh.
Say: these are estimates from stated assumptions on synthetic data, not measured losses. Then click 'Open in simulator' on the supplier-failure disruption.
The screenshot is from the supplied app running in explicit synthetic demo mode (the app shows a banner that nothing on screen was read from Exasol). REPLACE this screenshot with a live-Exasol capture after you verify the connection.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Left to right: the browser dashboard talks only to the Flask API; the browser never touches the database or credentials. AppService holds the mode, cache and decisions. Two paths sit behind it: the scenario engine, which does propagation and recovery scoring in Python, and ExasolService, which uses PyExasol with parameterised SQL to read tables and SQL views and to write scenario runs and decisions back.
Be precise about status. TEAL = built and covered by unit tests (95 pass, 3 integration tests skipped because they need a real database). AMBER = the Exasol path: the code and SQL exist, but at the time this deck was built they had NOT been executed against a live Exasol instance. The README itself says so.
If you complete live verification before presenting: change the amber items to teal, and replace the legend text with what you verified (for example 'SELECT 1 health check passed; table counts read from Exasol; run + decision written to SCENARIO_RUNS'). Say 'synthetic seed data in a live Exasol database' — a live connection does not make the data real.
The dashed synthetic generator is only entered by an explicit click; the app never silently falls back to demo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supplier-failure scenario from the app, for the Chennai plant's motor-control MCU. The chart shows projected stock: grey is the no-disruption path, red is no action — stock hits zero around day 18 — and teal is the recommended option.
The table compares the baseline with options the app actually evaluated: two alternative suppliers and a stock transfer from the Ahmedabad plant. Under the model's assumptions the Taipei option scores highest (95.1 vs 13.5 for no action) with no projected stockout. Say 'estimated difference versus baseline', never 'savings'. The app also lists options it did NOT evaluate and why (for example expedite is unavailable because the incumbent supplier is down).
Every number here is synthetic and driven by assumptions in config.py — the 21-day outage, the 50% surge capacity, setup fees — all visible in the UI. Optional live touch: lower the budget limit and show an option drop out.
Numbers come straight from the app's /api/simulate output (run id RUN-20261025-085453-4C8E, reference date 2026-10-25).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Three practical benefits, all grounded in what the app does: earlier visibility of where and when stock runs out; recovery options compared side by side against a no-action baseline; and a decision trail — approval is flagged when action cost exceeds the INR 25,000 policy threshold or a new supplier is involved, and the human decision is recorded.
What makes it credible rather than a black box: formulas and assumptions are shown in the UI; if Exasol is unreachable you see an error, not silently substituted demo data; every screen labels its data source; and it only recommends.
We deliberately make no quantified-improvement claim — no savings, accuracy or speed numbers — because none has been validated.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Be direct about limits — judges trust it. Today: the data is synthetic, and a live database connection would not change that; durations such as the 21-day outage are planning assumptions; options are evaluated one position at a time; there is no machine learning, so no accuracy claims.
First bullet on the left is the one to update after your Exasol test: if you have verified a successful SELECT 1 plus real reads and writes, replace 'pending verification' with exactly what you verified (for example 'Verified: connection test, reads from tables/views, run and decision written to SCENARIO_RUNS').
Future work (not built): validate with real operational data, add uncertainty analysis, back-test against historical disruptions, model combined plans across positions, and connect ERP/WMS feeds.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Deliver the line slowly: 'We cannot eliminate every disruption, but we can make better decisions before it becomes a crisis.' Then: 'SupplyShield — turning supply-chain uncertainty into actionable decisions.' Thank the judges and invite questions. Be ready for: Is the data real? (No — synthetic, labelled.) Is Exasol connected? (State exactly what you verified.) Is there AI/ML? (No, deterministic by design.)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900" kern="0" spc="100" dirty="0">
                <a:solidFill>
                  <a:srgbClr val="6F83A6"/>
                </a:solidFill>
                <a:latin typeface="IBM Plex Mono" pitchFamily="34" charset="0"/>
                <a:ea typeface="IBM Plex Mono" pitchFamily="34" charset="-122"/>
                <a:cs typeface="IBM Plex Mono" pitchFamily="34" charset="-120"/>
              </a:rPr>
              <a:t>SUPPLYSHIELD · TEAM VYNTRIX · EXATHON INDIA 2026</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900" kern="0" spc="100" dirty="0">
                <a:solidFill>
                  <a:srgbClr val="6F83A6"/>
                </a:solidFill>
                <a:latin typeface="IBM Plex Mono" pitchFamily="34" charset="0"/>
                <a:ea typeface="IBM Plex Mono" pitchFamily="34" charset="-122"/>
                <a:cs typeface="IBM Plex Mono" pitchFamily="34" charset="-120"/>
              </a:rPr>
              <a:t>SUPPLYSHIELD · TEAM VYNTRIX · EXATHON INDIA 2026</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ck box"/>
          <p:cNvSpPr/>
          <p:nvPr/>
        </p:nvSpPr>
        <p:spPr>
          <a:xfrm>
            <a:off x="457200" y="502920"/>
            <a:ext cx="4480560" cy="256032"/>
          </a:xfrm>
          <a:prstGeom prst="roundRect">
            <a:avLst>
              <a:gd name="adj" fmla="val 17857"/>
            </a:avLst>
          </a:prstGeom>
          <a:solidFill>
            <a:srgbClr val="2DD4BF">
              <a:alpha val="15000"/>
            </a:srgbClr>
          </a:solidFill>
          <a:ln w="9525">
            <a:solidFill>
              <a:srgbClr val="2DD4BF"/>
            </a:solidFill>
            <a:prstDash val="solid"/>
          </a:ln>
        </p:spPr>
      </p:sp>
      <p:sp>
        <p:nvSpPr>
          <p:cNvPr id="3" name="Track text"/>
          <p:cNvSpPr txBox="1"/>
          <p:nvPr/>
        </p:nvSpPr>
        <p:spPr>
          <a:xfrm>
            <a:off x="457200" y="502920"/>
            <a:ext cx="4480560" cy="256032"/>
          </a:xfrm>
          <a:prstGeom prst="rect">
            <a:avLst/>
          </a:prstGeom>
          <a:noFill/>
          <a:ln/>
        </p:spPr>
        <p:txBody>
          <a:bodyPr wrap="square" lIns="0" tIns="0" rIns="0" bIns="0" rtlCol="0" anchor="ctr"/>
          <a:lstStyle/>
          <a:p>
            <a:pPr marL="0" indent="0" algn="ctr">
              <a:buNone/>
            </a:pPr>
            <a:r>
              <a:rPr lang="en-US" sz="1000" b="1" kern="0" spc="50" dirty="0">
                <a:solidFill>
                  <a:srgbClr val="2DD4BF"/>
                </a:solidFill>
                <a:latin typeface="IBM Plex Mono" pitchFamily="34" charset="0"/>
                <a:ea typeface="IBM Plex Mono" pitchFamily="34" charset="-122"/>
                <a:cs typeface="IBM Plex Mono" pitchFamily="34" charset="-120"/>
              </a:rPr>
              <a:t>TRACK · FACTORIES, FLEETS &amp; SUPPLY CHAINS</a:t>
            </a:r>
            <a:endParaRPr lang="en-US" sz="1000" dirty="0"/>
          </a:p>
        </p:txBody>
      </p:sp>
      <p:sp>
        <p:nvSpPr>
          <p:cNvPr id="4" name="Title"/>
          <p:cNvSpPr txBox="1"/>
          <p:nvPr/>
        </p:nvSpPr>
        <p:spPr>
          <a:xfrm>
            <a:off x="457200" y="1051560"/>
            <a:ext cx="5486400" cy="868680"/>
          </a:xfrm>
          <a:prstGeom prst="rect">
            <a:avLst/>
          </a:prstGeom>
          <a:noFill/>
          <a:ln/>
        </p:spPr>
        <p:txBody>
          <a:bodyPr wrap="square" lIns="0" tIns="0" rIns="0" bIns="0" rtlCol="0" anchor="ctr"/>
          <a:lstStyle/>
          <a:p>
            <a:pPr marL="0" indent="0">
              <a:buNone/>
            </a:pPr>
            <a:r>
              <a:rPr lang="en-US" sz="5400" b="1" dirty="0">
                <a:solidFill>
                  <a:srgbClr val="FFFFFF"/>
                </a:solidFill>
                <a:latin typeface="Space Grotesk" pitchFamily="34" charset="0"/>
                <a:ea typeface="Space Grotesk" pitchFamily="34" charset="-122"/>
                <a:cs typeface="Space Grotesk" pitchFamily="34" charset="-120"/>
              </a:rPr>
              <a:t>SupplyShield</a:t>
            </a:r>
            <a:endParaRPr lang="en-US" sz="5400" dirty="0"/>
          </a:p>
        </p:txBody>
      </p:sp>
      <p:sp>
        <p:nvSpPr>
          <p:cNvPr id="5" name="Product"/>
          <p:cNvSpPr txBox="1"/>
          <p:nvPr/>
        </p:nvSpPr>
        <p:spPr>
          <a:xfrm>
            <a:off x="457200" y="1874520"/>
            <a:ext cx="5486400" cy="502920"/>
          </a:xfrm>
          <a:prstGeom prst="rect">
            <a:avLst/>
          </a:prstGeom>
          <a:noFill/>
          <a:ln/>
        </p:spPr>
        <p:txBody>
          <a:bodyPr wrap="square" lIns="0" tIns="0" rIns="0" bIns="0" rtlCol="0" anchor="ctr"/>
          <a:lstStyle/>
          <a:p>
            <a:pPr marL="0" indent="0">
              <a:buNone/>
            </a:pPr>
            <a:r>
              <a:rPr lang="en-US" sz="2800" dirty="0">
                <a:solidFill>
                  <a:srgbClr val="2DD4BF"/>
                </a:solidFill>
                <a:latin typeface="Space Grotesk" pitchFamily="34" charset="0"/>
                <a:ea typeface="Space Grotesk" pitchFamily="34" charset="-122"/>
                <a:cs typeface="Space Grotesk" pitchFamily="34" charset="-120"/>
              </a:rPr>
              <a:t>Continuity Engine</a:t>
            </a:r>
            <a:endParaRPr lang="en-US" sz="2800" dirty="0"/>
          </a:p>
        </p:txBody>
      </p:sp>
      <p:sp>
        <p:nvSpPr>
          <p:cNvPr id="6" name="Hook"/>
          <p:cNvSpPr txBox="1"/>
          <p:nvPr/>
        </p:nvSpPr>
        <p:spPr>
          <a:xfrm>
            <a:off x="457200" y="2606040"/>
            <a:ext cx="5120640" cy="685800"/>
          </a:xfrm>
          <a:prstGeom prst="rect">
            <a:avLst/>
          </a:prstGeom>
          <a:noFill/>
          <a:ln/>
        </p:spPr>
        <p:txBody>
          <a:bodyPr wrap="square" lIns="0" tIns="0" rIns="0" bIns="0" rtlCol="0" anchor="t"/>
          <a:lstStyle/>
          <a:p>
            <a:pPr marL="0" indent="0">
              <a:buNone/>
            </a:pPr>
            <a:r>
              <a:rPr lang="en-US" sz="1800" dirty="0">
                <a:solidFill>
                  <a:srgbClr val="FFFFFF"/>
                </a:solidFill>
                <a:latin typeface="Space Grotesk" pitchFamily="34" charset="0"/>
                <a:ea typeface="Space Grotesk" pitchFamily="34" charset="-122"/>
                <a:cs typeface="Space Grotesk" pitchFamily="34" charset="-120"/>
              </a:rPr>
              <a:t>A supplier fire. A chip shortage. A production line that stops weeks later.</a:t>
            </a:r>
            <a:endParaRPr lang="en-US" sz="1800" dirty="0"/>
          </a:p>
        </p:txBody>
      </p:sp>
      <p:sp>
        <p:nvSpPr>
          <p:cNvPr id="7" name="Value proposition"/>
          <p:cNvSpPr txBox="1"/>
          <p:nvPr/>
        </p:nvSpPr>
        <p:spPr>
          <a:xfrm>
            <a:off x="457200" y="3337560"/>
            <a:ext cx="5120640" cy="685800"/>
          </a:xfrm>
          <a:prstGeom prst="rect">
            <a:avLst/>
          </a:prstGeom>
          <a:noFill/>
          <a:ln/>
        </p:spPr>
        <p:txBody>
          <a:bodyPr wrap="square" lIns="0" tIns="0" rIns="0" bIns="0" rtlCol="0" anchor="t"/>
          <a:lstStyle/>
          <a:p>
            <a:pPr marL="0" indent="0">
              <a:buNone/>
            </a:pPr>
            <a:r>
              <a:rPr lang="en-US" sz="1500" dirty="0">
                <a:solidFill>
                  <a:srgbClr val="9FB1CF"/>
                </a:solidFill>
                <a:latin typeface="Space Grotesk" pitchFamily="34" charset="0"/>
                <a:ea typeface="Space Grotesk" pitchFamily="34" charset="-122"/>
                <a:cs typeface="Space Grotesk" pitchFamily="34" charset="-120"/>
              </a:rPr>
              <a:t>See which factories run dry first — and compare recovery options before they do.</a:t>
            </a:r>
            <a:endParaRPr lang="en-US" sz="1500" dirty="0"/>
          </a:p>
        </p:txBody>
      </p:sp>
      <p:sp>
        <p:nvSpPr>
          <p:cNvPr id="8" name="Team"/>
          <p:cNvSpPr txBox="1"/>
          <p:nvPr/>
        </p:nvSpPr>
        <p:spPr>
          <a:xfrm>
            <a:off x="457200" y="4206240"/>
            <a:ext cx="5486400" cy="274320"/>
          </a:xfrm>
          <a:prstGeom prst="rect">
            <a:avLst/>
          </a:prstGeom>
          <a:noFill/>
          <a:ln/>
        </p:spPr>
        <p:txBody>
          <a:bodyPr wrap="square" lIns="0" tIns="0" rIns="0" bIns="0" rtlCol="0" anchor="ctr"/>
          <a:lstStyle/>
          <a:p>
            <a:pPr marL="0" indent="0">
              <a:buNone/>
            </a:pPr>
            <a:r>
              <a:rPr lang="en-US" sz="1200" dirty="0">
                <a:solidFill>
                  <a:srgbClr val="22D3EE"/>
                </a:solidFill>
                <a:latin typeface="IBM Plex Mono" pitchFamily="34" charset="0"/>
                <a:ea typeface="IBM Plex Mono" pitchFamily="34" charset="-122"/>
                <a:cs typeface="IBM Plex Mono" pitchFamily="34" charset="-120"/>
              </a:rPr>
              <a:t>Team Vyntrix  |  ExaThon India 2026</a:t>
            </a:r>
            <a:endParaRPr lang="en-US" sz="1200" dirty="0"/>
          </a:p>
        </p:txBody>
      </p:sp>
      <p:sp>
        <p:nvSpPr>
          <p:cNvPr id="9" name="Stat card"/>
          <p:cNvSpPr/>
          <p:nvPr/>
        </p:nvSpPr>
        <p:spPr>
          <a:xfrm>
            <a:off x="5897880" y="1143000"/>
            <a:ext cx="2788920" cy="2651760"/>
          </a:xfrm>
          <a:prstGeom prst="roundRect">
            <a:avLst>
              <a:gd name="adj" fmla="val 2759"/>
            </a:avLst>
          </a:prstGeom>
          <a:solidFill>
            <a:srgbClr val="111E3A">
              <a:alpha val="92000"/>
            </a:srgbClr>
          </a:solidFill>
          <a:ln w="12700">
            <a:solidFill>
              <a:srgbClr val="2DD4BF"/>
            </a:solidFill>
            <a:prstDash val="solid"/>
          </a:ln>
        </p:spPr>
      </p:sp>
      <p:sp>
        <p:nvSpPr>
          <p:cNvPr id="10" name="Stat label"/>
          <p:cNvSpPr txBox="1"/>
          <p:nvPr/>
        </p:nvSpPr>
        <p:spPr>
          <a:xfrm>
            <a:off x="5897880" y="1325880"/>
            <a:ext cx="2788920" cy="274320"/>
          </a:xfrm>
          <a:prstGeom prst="rect">
            <a:avLst/>
          </a:prstGeom>
          <a:noFill/>
          <a:ln/>
        </p:spPr>
        <p:txBody>
          <a:bodyPr wrap="square" lIns="0" tIns="0" rIns="0" bIns="0" rtlCol="0" anchor="ctr"/>
          <a:lstStyle/>
          <a:p>
            <a:pPr marL="0" indent="0" algn="ctr">
              <a:buNone/>
            </a:pPr>
            <a:r>
              <a:rPr lang="en-US" sz="1100" kern="0" spc="100" dirty="0">
                <a:solidFill>
                  <a:srgbClr val="9FB1CF"/>
                </a:solidFill>
                <a:latin typeface="IBM Plex Mono" pitchFamily="34" charset="0"/>
                <a:ea typeface="IBM Plex Mono" pitchFamily="34" charset="-122"/>
                <a:cs typeface="IBM Plex Mono" pitchFamily="34" charset="-120"/>
              </a:rPr>
              <a:t>FIRST STOCKOUT</a:t>
            </a:r>
            <a:endParaRPr lang="en-US" sz="1100" dirty="0"/>
          </a:p>
        </p:txBody>
      </p:sp>
      <p:sp>
        <p:nvSpPr>
          <p:cNvPr id="11" name="Stat value"/>
          <p:cNvSpPr txBox="1"/>
          <p:nvPr/>
        </p:nvSpPr>
        <p:spPr>
          <a:xfrm>
            <a:off x="5897880" y="1691640"/>
            <a:ext cx="2788920" cy="914400"/>
          </a:xfrm>
          <a:prstGeom prst="rect">
            <a:avLst/>
          </a:prstGeom>
          <a:noFill/>
          <a:ln/>
        </p:spPr>
        <p:txBody>
          <a:bodyPr wrap="square" lIns="0" tIns="0" rIns="0" bIns="0" rtlCol="0" anchor="ctr"/>
          <a:lstStyle/>
          <a:p>
            <a:pPr marL="0" indent="0" algn="ctr">
              <a:buNone/>
            </a:pPr>
            <a:r>
              <a:rPr lang="en-US" sz="5400" b="1" dirty="0">
                <a:solidFill>
                  <a:srgbClr val="2DD4BF"/>
                </a:solidFill>
                <a:latin typeface="IBM Plex Mono" pitchFamily="34" charset="0"/>
                <a:ea typeface="IBM Plex Mono" pitchFamily="34" charset="-122"/>
                <a:cs typeface="IBM Plex Mono" pitchFamily="34" charset="-120"/>
              </a:rPr>
              <a:t>18.5 d</a:t>
            </a:r>
            <a:endParaRPr lang="en-US" sz="5400" dirty="0"/>
          </a:p>
        </p:txBody>
      </p:sp>
      <p:sp>
        <p:nvSpPr>
          <p:cNvPr id="12" name="Stat caption"/>
          <p:cNvSpPr txBox="1"/>
          <p:nvPr/>
        </p:nvSpPr>
        <p:spPr>
          <a:xfrm>
            <a:off x="5989320" y="2697480"/>
            <a:ext cx="2606040" cy="548640"/>
          </a:xfrm>
          <a:prstGeom prst="rect">
            <a:avLst/>
          </a:prstGeom>
          <a:noFill/>
          <a:ln/>
        </p:spPr>
        <p:txBody>
          <a:bodyPr wrap="square" lIns="0" tIns="0" rIns="0" bIns="0" rtlCol="0" anchor="ctr"/>
          <a:lstStyle/>
          <a:p>
            <a:pPr marL="0" indent="0" algn="ctr">
              <a:buNone/>
            </a:pPr>
            <a:r>
              <a:rPr lang="en-US" sz="1200" dirty="0">
                <a:solidFill>
                  <a:srgbClr val="FFFFFF"/>
                </a:solidFill>
                <a:latin typeface="Space Grotesk" pitchFamily="34" charset="0"/>
                <a:ea typeface="Space Grotesk" pitchFamily="34" charset="-122"/>
                <a:cs typeface="Space Grotesk" pitchFamily="34" charset="-120"/>
              </a:rPr>
              <a:t>Chennai Plant · motor-control MCU</a:t>
            </a:r>
            <a:endParaRPr lang="en-US" sz="1200" dirty="0"/>
          </a:p>
          <a:p>
            <a:pPr marL="0" indent="0" algn="ctr">
              <a:buNone/>
            </a:pPr>
            <a:r>
              <a:rPr lang="en-US" sz="1200" dirty="0">
                <a:solidFill>
                  <a:srgbClr val="FFFFFF"/>
                </a:solidFill>
                <a:latin typeface="Space Grotesk" pitchFamily="34" charset="0"/>
                <a:ea typeface="Space Grotesk" pitchFamily="34" charset="-122"/>
                <a:cs typeface="Space Grotesk" pitchFamily="34" charset="-120"/>
              </a:rPr>
              <a:t>if no action is taken</a:t>
            </a:r>
            <a:endParaRPr lang="en-US" sz="1200" dirty="0"/>
          </a:p>
        </p:txBody>
      </p:sp>
      <p:sp>
        <p:nvSpPr>
          <p:cNvPr id="13" name="Synthetic tag box"/>
          <p:cNvSpPr/>
          <p:nvPr/>
        </p:nvSpPr>
        <p:spPr>
          <a:xfrm>
            <a:off x="6263640" y="3383280"/>
            <a:ext cx="2057400" cy="256032"/>
          </a:xfrm>
          <a:prstGeom prst="roundRect">
            <a:avLst>
              <a:gd name="adj" fmla="val 17857"/>
            </a:avLst>
          </a:prstGeom>
          <a:solidFill>
            <a:srgbClr val="F5B342">
              <a:alpha val="15000"/>
            </a:srgbClr>
          </a:solidFill>
          <a:ln w="9525">
            <a:solidFill>
              <a:srgbClr val="F5B342"/>
            </a:solidFill>
            <a:prstDash val="solid"/>
          </a:ln>
        </p:spPr>
      </p:sp>
      <p:sp>
        <p:nvSpPr>
          <p:cNvPr id="14" name="Synthetic tag text"/>
          <p:cNvSpPr txBox="1"/>
          <p:nvPr/>
        </p:nvSpPr>
        <p:spPr>
          <a:xfrm>
            <a:off x="6263640" y="3383280"/>
            <a:ext cx="2057400" cy="256032"/>
          </a:xfrm>
          <a:prstGeom prst="rect">
            <a:avLst/>
          </a:prstGeom>
          <a:noFill/>
          <a:ln/>
        </p:spPr>
        <p:txBody>
          <a:bodyPr wrap="square" lIns="0" tIns="0" rIns="0" bIns="0" rtlCol="0" anchor="ctr"/>
          <a:lstStyle/>
          <a:p>
            <a:pPr marL="0" indent="0" algn="ctr">
              <a:buNone/>
            </a:pPr>
            <a:r>
              <a:rPr lang="en-US" sz="1000" b="1" kern="0" spc="50" dirty="0">
                <a:solidFill>
                  <a:srgbClr val="F5B342"/>
                </a:solidFill>
                <a:latin typeface="IBM Plex Mono" pitchFamily="34" charset="0"/>
                <a:ea typeface="IBM Plex Mono" pitchFamily="34" charset="-122"/>
                <a:cs typeface="IBM Plex Mono" pitchFamily="34" charset="-120"/>
              </a:rPr>
              <a:t>SYNTHETIC DEMO FIGURE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One supplier fire can stall an industry</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A real precedent — and the fictional scenario our demo uses</a:t>
            </a:r>
            <a:endParaRPr lang="en-US" sz="1400" dirty="0"/>
          </a:p>
        </p:txBody>
      </p:sp>
      <p:sp>
        <p:nvSpPr>
          <p:cNvPr id="4" name="Real event card"/>
          <p:cNvSpPr/>
          <p:nvPr/>
        </p:nvSpPr>
        <p:spPr>
          <a:xfrm>
            <a:off x="457200" y="1280160"/>
            <a:ext cx="5029200" cy="3063240"/>
          </a:xfrm>
          <a:prstGeom prst="roundRect">
            <a:avLst>
              <a:gd name="adj" fmla="val 2388"/>
            </a:avLst>
          </a:prstGeom>
          <a:solidFill>
            <a:srgbClr val="111E3A">
              <a:alpha val="92000"/>
            </a:srgbClr>
          </a:solidFill>
          <a:ln w="12700">
            <a:solidFill>
              <a:srgbClr val="27406B"/>
            </a:solidFill>
            <a:prstDash val="solid"/>
          </a:ln>
        </p:spPr>
      </p:sp>
      <p:sp>
        <p:nvSpPr>
          <p:cNvPr id="5" name="Real tag box"/>
          <p:cNvSpPr/>
          <p:nvPr/>
        </p:nvSpPr>
        <p:spPr>
          <a:xfrm>
            <a:off x="640080" y="1417320"/>
            <a:ext cx="1737360" cy="256032"/>
          </a:xfrm>
          <a:prstGeom prst="roundRect">
            <a:avLst>
              <a:gd name="adj" fmla="val 17857"/>
            </a:avLst>
          </a:prstGeom>
          <a:solidFill>
            <a:srgbClr val="22D3EE">
              <a:alpha val="15000"/>
            </a:srgbClr>
          </a:solidFill>
          <a:ln w="9525">
            <a:solidFill>
              <a:srgbClr val="22D3EE"/>
            </a:solidFill>
            <a:prstDash val="solid"/>
          </a:ln>
        </p:spPr>
      </p:sp>
      <p:sp>
        <p:nvSpPr>
          <p:cNvPr id="6" name="Real tag text"/>
          <p:cNvSpPr txBox="1"/>
          <p:nvPr/>
        </p:nvSpPr>
        <p:spPr>
          <a:xfrm>
            <a:off x="640080" y="1417320"/>
            <a:ext cx="1737360" cy="256032"/>
          </a:xfrm>
          <a:prstGeom prst="rect">
            <a:avLst/>
          </a:prstGeom>
          <a:noFill/>
          <a:ln/>
        </p:spPr>
        <p:txBody>
          <a:bodyPr wrap="square" lIns="0" tIns="0" rIns="0" bIns="0" rtlCol="0" anchor="ctr"/>
          <a:lstStyle/>
          <a:p>
            <a:pPr marL="0" indent="0" algn="ctr">
              <a:buNone/>
            </a:pPr>
            <a:r>
              <a:rPr lang="en-US" sz="1000" b="1" kern="0" spc="50" dirty="0">
                <a:solidFill>
                  <a:srgbClr val="22D3EE"/>
                </a:solidFill>
                <a:latin typeface="IBM Plex Mono" pitchFamily="34" charset="0"/>
                <a:ea typeface="IBM Plex Mono" pitchFamily="34" charset="-122"/>
                <a:cs typeface="IBM Plex Mono" pitchFamily="34" charset="-120"/>
              </a:rPr>
              <a:t>REAL EVENT · 2021</a:t>
            </a:r>
            <a:endParaRPr lang="en-US" sz="1000" dirty="0"/>
          </a:p>
        </p:txBody>
      </p:sp>
      <p:sp>
        <p:nvSpPr>
          <p:cNvPr id="7" name="Real event title"/>
          <p:cNvSpPr txBox="1"/>
          <p:nvPr/>
        </p:nvSpPr>
        <p:spPr>
          <a:xfrm>
            <a:off x="2514600" y="1417320"/>
            <a:ext cx="2834640" cy="256032"/>
          </a:xfrm>
          <a:prstGeom prst="rect">
            <a:avLst/>
          </a:prstGeom>
          <a:noFill/>
          <a:ln/>
        </p:spPr>
        <p:txBody>
          <a:bodyPr wrap="square" lIns="0" tIns="0" rIns="0" bIns="0" rtlCol="0" anchor="ctr"/>
          <a:lstStyle/>
          <a:p>
            <a:pPr marL="0" indent="0">
              <a:buNone/>
            </a:pPr>
            <a:r>
              <a:rPr lang="en-US" sz="1400" b="1" dirty="0">
                <a:solidFill>
                  <a:srgbClr val="FFFFFF"/>
                </a:solidFill>
                <a:latin typeface="Space Grotesk" pitchFamily="34" charset="0"/>
                <a:ea typeface="Space Grotesk" pitchFamily="34" charset="-122"/>
                <a:cs typeface="Space Grotesk" pitchFamily="34" charset="-120"/>
              </a:rPr>
              <a:t>Renesas Naka fab fire</a:t>
            </a:r>
            <a:endParaRPr lang="en-US" sz="1400" dirty="0"/>
          </a:p>
        </p:txBody>
      </p:sp>
      <p:sp>
        <p:nvSpPr>
          <p:cNvPr id="8" name="Timeline node"/>
          <p:cNvSpPr/>
          <p:nvPr/>
        </p:nvSpPr>
        <p:spPr>
          <a:xfrm>
            <a:off x="685800" y="1938528"/>
            <a:ext cx="146304" cy="146304"/>
          </a:xfrm>
          <a:prstGeom prst="ellipse">
            <a:avLst/>
          </a:prstGeom>
          <a:solidFill>
            <a:srgbClr val="22D3EE"/>
          </a:solidFill>
          <a:ln w="12700">
            <a:solidFill>
              <a:srgbClr val="22D3EE"/>
            </a:solidFill>
            <a:prstDash val="solid"/>
          </a:ln>
        </p:spPr>
      </p:sp>
      <p:sp>
        <p:nvSpPr>
          <p:cNvPr id="9" name="Timeline line"/>
          <p:cNvSpPr/>
          <p:nvPr/>
        </p:nvSpPr>
        <p:spPr>
          <a:xfrm>
            <a:off x="758952" y="2103120"/>
            <a:ext cx="0" cy="457200"/>
          </a:xfrm>
          <a:prstGeom prst="line">
            <a:avLst/>
          </a:prstGeom>
          <a:noFill/>
          <a:ln w="19050">
            <a:solidFill>
              <a:srgbClr val="27406B"/>
            </a:solidFill>
            <a:prstDash val="solid"/>
          </a:ln>
        </p:spPr>
      </p:sp>
      <p:sp>
        <p:nvSpPr>
          <p:cNvPr id="10" name="Timeline date"/>
          <p:cNvSpPr txBox="1"/>
          <p:nvPr/>
        </p:nvSpPr>
        <p:spPr>
          <a:xfrm>
            <a:off x="960120" y="1874520"/>
            <a:ext cx="1143000" cy="274320"/>
          </a:xfrm>
          <a:prstGeom prst="rect">
            <a:avLst/>
          </a:prstGeom>
          <a:noFill/>
          <a:ln/>
        </p:spPr>
        <p:txBody>
          <a:bodyPr wrap="square" lIns="0" tIns="0" rIns="0" bIns="0" rtlCol="0" anchor="t"/>
          <a:lstStyle/>
          <a:p>
            <a:pPr marL="0" indent="0">
              <a:buNone/>
            </a:pPr>
            <a:r>
              <a:rPr lang="en-US" sz="1100" b="1" dirty="0">
                <a:solidFill>
                  <a:srgbClr val="22D3EE"/>
                </a:solidFill>
                <a:latin typeface="IBM Plex Mono" pitchFamily="34" charset="0"/>
                <a:ea typeface="IBM Plex Mono" pitchFamily="34" charset="-122"/>
                <a:cs typeface="IBM Plex Mono" pitchFamily="34" charset="-120"/>
              </a:rPr>
              <a:t>Mar 19, 2021</a:t>
            </a:r>
            <a:endParaRPr lang="en-US" sz="1100" dirty="0"/>
          </a:p>
        </p:txBody>
      </p:sp>
      <p:sp>
        <p:nvSpPr>
          <p:cNvPr id="11" name="Timeline text"/>
          <p:cNvSpPr txBox="1"/>
          <p:nvPr/>
        </p:nvSpPr>
        <p:spPr>
          <a:xfrm>
            <a:off x="2103120" y="1874520"/>
            <a:ext cx="3246120" cy="502920"/>
          </a:xfrm>
          <a:prstGeom prst="rect">
            <a:avLst/>
          </a:prstGeom>
          <a:noFill/>
          <a:ln/>
        </p:spPr>
        <p:txBody>
          <a:bodyPr wrap="square" lIns="0" tIns="0" rIns="0" bIns="0" rtlCol="0" anchor="t"/>
          <a:lstStyle/>
          <a:p>
            <a:pPr marL="0" indent="0">
              <a:buNone/>
            </a:pPr>
            <a:r>
              <a:rPr lang="en-US" sz="1300" dirty="0">
                <a:solidFill>
                  <a:srgbClr val="FFFFFF"/>
                </a:solidFill>
                <a:latin typeface="Space Grotesk" pitchFamily="34" charset="0"/>
                <a:ea typeface="Space Grotesk" pitchFamily="34" charset="-122"/>
                <a:cs typeface="Space Grotesk" pitchFamily="34" charset="-120"/>
              </a:rPr>
              <a:t>Fire at Renesas’ Naka plant; 23 machines damaged</a:t>
            </a:r>
            <a:endParaRPr lang="en-US" sz="1300" dirty="0"/>
          </a:p>
        </p:txBody>
      </p:sp>
      <p:sp>
        <p:nvSpPr>
          <p:cNvPr id="12" name="Timeline node"/>
          <p:cNvSpPr/>
          <p:nvPr/>
        </p:nvSpPr>
        <p:spPr>
          <a:xfrm>
            <a:off x="685800" y="2505456"/>
            <a:ext cx="146304" cy="146304"/>
          </a:xfrm>
          <a:prstGeom prst="ellipse">
            <a:avLst/>
          </a:prstGeom>
          <a:solidFill>
            <a:srgbClr val="22D3EE"/>
          </a:solidFill>
          <a:ln w="12700">
            <a:solidFill>
              <a:srgbClr val="22D3EE"/>
            </a:solidFill>
            <a:prstDash val="solid"/>
          </a:ln>
        </p:spPr>
      </p:sp>
      <p:sp>
        <p:nvSpPr>
          <p:cNvPr id="13" name="Timeline line"/>
          <p:cNvSpPr/>
          <p:nvPr/>
        </p:nvSpPr>
        <p:spPr>
          <a:xfrm>
            <a:off x="758952" y="2670048"/>
            <a:ext cx="0" cy="457200"/>
          </a:xfrm>
          <a:prstGeom prst="line">
            <a:avLst/>
          </a:prstGeom>
          <a:noFill/>
          <a:ln w="19050">
            <a:solidFill>
              <a:srgbClr val="27406B"/>
            </a:solidFill>
            <a:prstDash val="solid"/>
          </a:ln>
        </p:spPr>
      </p:sp>
      <p:sp>
        <p:nvSpPr>
          <p:cNvPr id="14" name="Timeline date"/>
          <p:cNvSpPr txBox="1"/>
          <p:nvPr/>
        </p:nvSpPr>
        <p:spPr>
          <a:xfrm>
            <a:off x="960120" y="2441448"/>
            <a:ext cx="1143000" cy="274320"/>
          </a:xfrm>
          <a:prstGeom prst="rect">
            <a:avLst/>
          </a:prstGeom>
          <a:noFill/>
          <a:ln/>
        </p:spPr>
        <p:txBody>
          <a:bodyPr wrap="square" lIns="0" tIns="0" rIns="0" bIns="0" rtlCol="0" anchor="t"/>
          <a:lstStyle/>
          <a:p>
            <a:pPr marL="0" indent="0">
              <a:buNone/>
            </a:pPr>
            <a:r>
              <a:rPr lang="en-US" sz="1100" b="1" dirty="0">
                <a:solidFill>
                  <a:srgbClr val="22D3EE"/>
                </a:solidFill>
                <a:latin typeface="IBM Plex Mono" pitchFamily="34" charset="0"/>
                <a:ea typeface="IBM Plex Mono" pitchFamily="34" charset="-122"/>
                <a:cs typeface="IBM Plex Mono" pitchFamily="34" charset="-120"/>
              </a:rPr>
              <a:t>Late Mar</a:t>
            </a:r>
            <a:endParaRPr lang="en-US" sz="1100" dirty="0"/>
          </a:p>
        </p:txBody>
      </p:sp>
      <p:sp>
        <p:nvSpPr>
          <p:cNvPr id="15" name="Timeline text"/>
          <p:cNvSpPr txBox="1"/>
          <p:nvPr/>
        </p:nvSpPr>
        <p:spPr>
          <a:xfrm>
            <a:off x="2103120" y="2441448"/>
            <a:ext cx="3246120" cy="502920"/>
          </a:xfrm>
          <a:prstGeom prst="rect">
            <a:avLst/>
          </a:prstGeom>
          <a:noFill/>
          <a:ln/>
        </p:spPr>
        <p:txBody>
          <a:bodyPr wrap="square" lIns="0" tIns="0" rIns="0" bIns="0" rtlCol="0" anchor="t"/>
          <a:lstStyle/>
          <a:p>
            <a:pPr marL="0" indent="0">
              <a:buNone/>
            </a:pPr>
            <a:r>
              <a:rPr lang="en-US" sz="1300" dirty="0">
                <a:solidFill>
                  <a:srgbClr val="FFFFFF"/>
                </a:solidFill>
                <a:latin typeface="Space Grotesk" pitchFamily="34" charset="0"/>
                <a:ea typeface="Space Grotesk" pitchFamily="34" charset="-122"/>
                <a:cs typeface="Space Grotesk" pitchFamily="34" charset="-120"/>
              </a:rPr>
              <a:t>Restart expected to take 3+ months; Toyota and Nissan plan production cuts</a:t>
            </a:r>
            <a:endParaRPr lang="en-US" sz="1300" dirty="0"/>
          </a:p>
        </p:txBody>
      </p:sp>
      <p:sp>
        <p:nvSpPr>
          <p:cNvPr id="16" name="Timeline node"/>
          <p:cNvSpPr/>
          <p:nvPr/>
        </p:nvSpPr>
        <p:spPr>
          <a:xfrm>
            <a:off x="685800" y="3072384"/>
            <a:ext cx="146304" cy="146304"/>
          </a:xfrm>
          <a:prstGeom prst="ellipse">
            <a:avLst/>
          </a:prstGeom>
          <a:solidFill>
            <a:srgbClr val="22D3EE"/>
          </a:solidFill>
          <a:ln w="12700">
            <a:solidFill>
              <a:srgbClr val="22D3EE"/>
            </a:solidFill>
            <a:prstDash val="solid"/>
          </a:ln>
        </p:spPr>
      </p:sp>
      <p:sp>
        <p:nvSpPr>
          <p:cNvPr id="17" name="Timeline line"/>
          <p:cNvSpPr/>
          <p:nvPr/>
        </p:nvSpPr>
        <p:spPr>
          <a:xfrm>
            <a:off x="758952" y="3236976"/>
            <a:ext cx="0" cy="457200"/>
          </a:xfrm>
          <a:prstGeom prst="line">
            <a:avLst/>
          </a:prstGeom>
          <a:noFill/>
          <a:ln w="19050">
            <a:solidFill>
              <a:srgbClr val="27406B"/>
            </a:solidFill>
            <a:prstDash val="solid"/>
          </a:ln>
        </p:spPr>
      </p:sp>
      <p:sp>
        <p:nvSpPr>
          <p:cNvPr id="18" name="Timeline date"/>
          <p:cNvSpPr txBox="1"/>
          <p:nvPr/>
        </p:nvSpPr>
        <p:spPr>
          <a:xfrm>
            <a:off x="960120" y="3008376"/>
            <a:ext cx="1143000" cy="274320"/>
          </a:xfrm>
          <a:prstGeom prst="rect">
            <a:avLst/>
          </a:prstGeom>
          <a:noFill/>
          <a:ln/>
        </p:spPr>
        <p:txBody>
          <a:bodyPr wrap="square" lIns="0" tIns="0" rIns="0" bIns="0" rtlCol="0" anchor="t"/>
          <a:lstStyle/>
          <a:p>
            <a:pPr marL="0" indent="0">
              <a:buNone/>
            </a:pPr>
            <a:r>
              <a:rPr lang="en-US" sz="1100" b="1" dirty="0">
                <a:solidFill>
                  <a:srgbClr val="22D3EE"/>
                </a:solidFill>
                <a:latin typeface="IBM Plex Mono" pitchFamily="34" charset="0"/>
                <a:ea typeface="IBM Plex Mono" pitchFamily="34" charset="-122"/>
                <a:cs typeface="IBM Plex Mono" pitchFamily="34" charset="-120"/>
              </a:rPr>
              <a:t>~Jun 1</a:t>
            </a:r>
            <a:endParaRPr lang="en-US" sz="1100" dirty="0"/>
          </a:p>
        </p:txBody>
      </p:sp>
      <p:sp>
        <p:nvSpPr>
          <p:cNvPr id="19" name="Timeline text"/>
          <p:cNvSpPr txBox="1"/>
          <p:nvPr/>
        </p:nvSpPr>
        <p:spPr>
          <a:xfrm>
            <a:off x="2103120" y="3008376"/>
            <a:ext cx="3246120" cy="502920"/>
          </a:xfrm>
          <a:prstGeom prst="rect">
            <a:avLst/>
          </a:prstGeom>
          <a:noFill/>
          <a:ln/>
        </p:spPr>
        <p:txBody>
          <a:bodyPr wrap="square" lIns="0" tIns="0" rIns="0" bIns="0" rtlCol="0" anchor="t"/>
          <a:lstStyle/>
          <a:p>
            <a:pPr marL="0" indent="0">
              <a:buNone/>
            </a:pPr>
            <a:r>
              <a:rPr lang="en-US" sz="1300" dirty="0">
                <a:solidFill>
                  <a:srgbClr val="FFFFFF"/>
                </a:solidFill>
                <a:latin typeface="Space Grotesk" pitchFamily="34" charset="0"/>
                <a:ea typeface="Space Grotesk" pitchFamily="34" charset="-122"/>
                <a:cs typeface="Space Grotesk" pitchFamily="34" charset="-120"/>
              </a:rPr>
              <a:t>Output back to ~88% of pre-fire level</a:t>
            </a:r>
            <a:endParaRPr lang="en-US" sz="1300" dirty="0"/>
          </a:p>
        </p:txBody>
      </p:sp>
      <p:sp>
        <p:nvSpPr>
          <p:cNvPr id="20" name="Timeline node"/>
          <p:cNvSpPr/>
          <p:nvPr/>
        </p:nvSpPr>
        <p:spPr>
          <a:xfrm>
            <a:off x="685800" y="3639312"/>
            <a:ext cx="146304" cy="146304"/>
          </a:xfrm>
          <a:prstGeom prst="ellipse">
            <a:avLst/>
          </a:prstGeom>
          <a:solidFill>
            <a:srgbClr val="22D3EE"/>
          </a:solidFill>
          <a:ln w="12700">
            <a:solidFill>
              <a:srgbClr val="22D3EE"/>
            </a:solidFill>
            <a:prstDash val="solid"/>
          </a:ln>
        </p:spPr>
      </p:sp>
      <p:sp>
        <p:nvSpPr>
          <p:cNvPr id="21" name="Timeline date"/>
          <p:cNvSpPr txBox="1"/>
          <p:nvPr/>
        </p:nvSpPr>
        <p:spPr>
          <a:xfrm>
            <a:off x="960120" y="3575304"/>
            <a:ext cx="1143000" cy="274320"/>
          </a:xfrm>
          <a:prstGeom prst="rect">
            <a:avLst/>
          </a:prstGeom>
          <a:noFill/>
          <a:ln/>
        </p:spPr>
        <p:txBody>
          <a:bodyPr wrap="square" lIns="0" tIns="0" rIns="0" bIns="0" rtlCol="0" anchor="t"/>
          <a:lstStyle/>
          <a:p>
            <a:pPr marL="0" indent="0">
              <a:buNone/>
            </a:pPr>
            <a:r>
              <a:rPr lang="en-US" sz="1100" b="1" dirty="0">
                <a:solidFill>
                  <a:srgbClr val="22D3EE"/>
                </a:solidFill>
                <a:latin typeface="IBM Plex Mono" pitchFamily="34" charset="0"/>
                <a:ea typeface="IBM Plex Mono" pitchFamily="34" charset="-122"/>
                <a:cs typeface="IBM Plex Mono" pitchFamily="34" charset="-120"/>
              </a:rPr>
              <a:t>Mid-Jun</a:t>
            </a:r>
            <a:endParaRPr lang="en-US" sz="1100" dirty="0"/>
          </a:p>
        </p:txBody>
      </p:sp>
      <p:sp>
        <p:nvSpPr>
          <p:cNvPr id="22" name="Timeline text"/>
          <p:cNvSpPr txBox="1"/>
          <p:nvPr/>
        </p:nvSpPr>
        <p:spPr>
          <a:xfrm>
            <a:off x="2103120" y="3575304"/>
            <a:ext cx="3246120" cy="502920"/>
          </a:xfrm>
          <a:prstGeom prst="rect">
            <a:avLst/>
          </a:prstGeom>
          <a:noFill/>
          <a:ln/>
        </p:spPr>
        <p:txBody>
          <a:bodyPr wrap="square" lIns="0" tIns="0" rIns="0" bIns="0" rtlCol="0" anchor="t"/>
          <a:lstStyle/>
          <a:p>
            <a:pPr marL="0" indent="0">
              <a:buNone/>
            </a:pPr>
            <a:r>
              <a:rPr lang="en-US" sz="1300" dirty="0">
                <a:solidFill>
                  <a:srgbClr val="FFFFFF"/>
                </a:solidFill>
                <a:latin typeface="Space Grotesk" pitchFamily="34" charset="0"/>
                <a:ea typeface="Space Grotesk" pitchFamily="34" charset="-122"/>
                <a:cs typeface="Space Grotesk" pitchFamily="34" charset="-120"/>
              </a:rPr>
              <a:t>Full production expected</a:t>
            </a:r>
            <a:endParaRPr lang="en-US" sz="1300" dirty="0"/>
          </a:p>
        </p:txBody>
      </p:sp>
      <p:sp>
        <p:nvSpPr>
          <p:cNvPr id="23" name="Fictional card"/>
          <p:cNvSpPr/>
          <p:nvPr/>
        </p:nvSpPr>
        <p:spPr>
          <a:xfrm>
            <a:off x="5669280" y="1280160"/>
            <a:ext cx="3017520" cy="3063240"/>
          </a:xfrm>
          <a:prstGeom prst="roundRect">
            <a:avLst>
              <a:gd name="adj" fmla="val 2424"/>
            </a:avLst>
          </a:prstGeom>
          <a:solidFill>
            <a:srgbClr val="111E3A">
              <a:alpha val="92000"/>
            </a:srgbClr>
          </a:solidFill>
          <a:ln w="12700">
            <a:solidFill>
              <a:srgbClr val="F5B342"/>
            </a:solidFill>
            <a:prstDash val="solid"/>
          </a:ln>
        </p:spPr>
      </p:sp>
      <p:sp>
        <p:nvSpPr>
          <p:cNvPr id="24" name="Fictional tag box"/>
          <p:cNvSpPr/>
          <p:nvPr/>
        </p:nvSpPr>
        <p:spPr>
          <a:xfrm>
            <a:off x="5852160" y="1417320"/>
            <a:ext cx="2011680" cy="256032"/>
          </a:xfrm>
          <a:prstGeom prst="roundRect">
            <a:avLst>
              <a:gd name="adj" fmla="val 17857"/>
            </a:avLst>
          </a:prstGeom>
          <a:solidFill>
            <a:srgbClr val="F5B342">
              <a:alpha val="15000"/>
            </a:srgbClr>
          </a:solidFill>
          <a:ln w="9525">
            <a:solidFill>
              <a:srgbClr val="F5B342"/>
            </a:solidFill>
            <a:prstDash val="solid"/>
          </a:ln>
        </p:spPr>
      </p:sp>
      <p:sp>
        <p:nvSpPr>
          <p:cNvPr id="25" name="Fictional tag text"/>
          <p:cNvSpPr txBox="1"/>
          <p:nvPr/>
        </p:nvSpPr>
        <p:spPr>
          <a:xfrm>
            <a:off x="5852160" y="1417320"/>
            <a:ext cx="2011680" cy="256032"/>
          </a:xfrm>
          <a:prstGeom prst="rect">
            <a:avLst/>
          </a:prstGeom>
          <a:noFill/>
          <a:ln/>
        </p:spPr>
        <p:txBody>
          <a:bodyPr wrap="square" lIns="0" tIns="0" rIns="0" bIns="0" rtlCol="0" anchor="ctr"/>
          <a:lstStyle/>
          <a:p>
            <a:pPr marL="0" indent="0" algn="ctr">
              <a:buNone/>
            </a:pPr>
            <a:r>
              <a:rPr lang="en-US" sz="1000" b="1" kern="0" spc="50" dirty="0">
                <a:solidFill>
                  <a:srgbClr val="F5B342"/>
                </a:solidFill>
                <a:latin typeface="IBM Plex Mono" pitchFamily="34" charset="0"/>
                <a:ea typeface="IBM Plex Mono" pitchFamily="34" charset="-122"/>
                <a:cs typeface="IBM Plex Mono" pitchFamily="34" charset="-120"/>
              </a:rPr>
              <a:t>FICTIONAL · OUR DEMO</a:t>
            </a:r>
            <a:endParaRPr lang="en-US" sz="1000" dirty="0"/>
          </a:p>
        </p:txBody>
      </p:sp>
      <p:sp>
        <p:nvSpPr>
          <p:cNvPr id="26" name="Fictional title"/>
          <p:cNvSpPr txBox="1"/>
          <p:nvPr/>
        </p:nvSpPr>
        <p:spPr>
          <a:xfrm>
            <a:off x="5852160" y="1783080"/>
            <a:ext cx="2697480" cy="274320"/>
          </a:xfrm>
          <a:prstGeom prst="rect">
            <a:avLst/>
          </a:prstGeom>
          <a:noFill/>
          <a:ln/>
        </p:spPr>
        <p:txBody>
          <a:bodyPr wrap="square" lIns="0" tIns="0" rIns="0" bIns="0" rtlCol="0" anchor="ctr"/>
          <a:lstStyle/>
          <a:p>
            <a:pPr marL="0" indent="0">
              <a:buNone/>
            </a:pPr>
            <a:r>
              <a:rPr lang="en-US" sz="1500" b="1" dirty="0">
                <a:solidFill>
                  <a:srgbClr val="FFFFFF"/>
                </a:solidFill>
                <a:latin typeface="Space Grotesk" pitchFamily="34" charset="0"/>
                <a:ea typeface="Space Grotesk" pitchFamily="34" charset="-122"/>
                <a:cs typeface="Space Grotesk" pitchFamily="34" charset="-120"/>
              </a:rPr>
              <a:t>Synthetic scenario</a:t>
            </a:r>
            <a:endParaRPr lang="en-US" sz="1500" dirty="0"/>
          </a:p>
        </p:txBody>
      </p:sp>
      <p:sp>
        <p:nvSpPr>
          <p:cNvPr id="27" name="Fictional flow"/>
          <p:cNvSpPr txBox="1"/>
          <p:nvPr/>
        </p:nvSpPr>
        <p:spPr>
          <a:xfrm>
            <a:off x="5852160" y="2194560"/>
            <a:ext cx="2743200" cy="1463040"/>
          </a:xfrm>
          <a:prstGeom prst="rect">
            <a:avLst/>
          </a:prstGeom>
          <a:noFill/>
          <a:ln/>
        </p:spPr>
        <p:txBody>
          <a:bodyPr wrap="square" lIns="0" tIns="0" rIns="0" bIns="0" rtlCol="0" anchor="t"/>
          <a:lstStyle/>
          <a:p>
            <a:pPr marL="0" indent="0">
              <a:spcAft>
                <a:spcPts val="600"/>
              </a:spcAft>
              <a:buNone/>
            </a:pPr>
            <a:r>
              <a:rPr lang="en-US" sz="1300" dirty="0">
                <a:solidFill>
                  <a:srgbClr val="FFFFFF"/>
                </a:solidFill>
                <a:latin typeface="Space Grotesk" pitchFamily="34" charset="0"/>
                <a:ea typeface="Space Grotesk" pitchFamily="34" charset="-122"/>
                <a:cs typeface="Space Grotesk" pitchFamily="34" charset="-120"/>
              </a:rPr>
              <a:t>“Shenzhen MicroSemi” fab fire</a:t>
            </a:r>
            <a:endParaRPr lang="en-US" sz="1300" dirty="0"/>
          </a:p>
          <a:p>
            <a:pPr marL="0" indent="0">
              <a:spcAft>
                <a:spcPts val="600"/>
              </a:spcAft>
              <a:buNone/>
            </a:pPr>
            <a:r>
              <a:rPr lang="en-US" sz="1300" dirty="0">
                <a:solidFill>
                  <a:srgbClr val="9FB1CF"/>
                </a:solidFill>
                <a:latin typeface="Space Grotesk" pitchFamily="34" charset="0"/>
                <a:ea typeface="Space Grotesk" pitchFamily="34" charset="-122"/>
                <a:cs typeface="Space Grotesk" pitchFamily="34" charset="-120"/>
              </a:rPr>
              <a:t>↓ undispatched MCU shipments held</a:t>
            </a:r>
            <a:endParaRPr lang="en-US" sz="1300" dirty="0"/>
          </a:p>
          <a:p>
            <a:pPr marL="0" indent="0">
              <a:spcAft>
                <a:spcPts val="600"/>
              </a:spcAft>
              <a:buNone/>
            </a:pPr>
            <a:r>
              <a:rPr lang="en-US" sz="1300" dirty="0">
                <a:solidFill>
                  <a:srgbClr val="9FB1CF"/>
                </a:solidFill>
                <a:latin typeface="Space Grotesk" pitchFamily="34" charset="0"/>
                <a:ea typeface="Space Grotesk" pitchFamily="34" charset="-122"/>
                <a:cs typeface="Space Grotesk" pitchFamily="34" charset="-120"/>
              </a:rPr>
              <a:t>↓ Chennai &amp; Pune lines at risk</a:t>
            </a:r>
            <a:endParaRPr lang="en-US" sz="1300" dirty="0"/>
          </a:p>
          <a:p>
            <a:pPr marL="0" indent="0">
              <a:spcAft>
                <a:spcPts val="600"/>
              </a:spcAft>
              <a:buNone/>
            </a:pPr>
            <a:r>
              <a:rPr lang="en-US" sz="1300" dirty="0">
                <a:solidFill>
                  <a:srgbClr val="F5B342"/>
                </a:solidFill>
                <a:latin typeface="Space Grotesk" pitchFamily="34" charset="0"/>
                <a:ea typeface="Space Grotesk" pitchFamily="34" charset="-122"/>
                <a:cs typeface="Space Grotesk" pitchFamily="34" charset="-120"/>
              </a:rPr>
              <a:t>21-day outage = planning assumption</a:t>
            </a:r>
            <a:endParaRPr lang="en-US" sz="1300" dirty="0"/>
          </a:p>
        </p:txBody>
      </p:sp>
      <p:sp>
        <p:nvSpPr>
          <p:cNvPr id="28" name="Fictional note"/>
          <p:cNvSpPr txBox="1"/>
          <p:nvPr/>
        </p:nvSpPr>
        <p:spPr>
          <a:xfrm>
            <a:off x="5852160" y="3749040"/>
            <a:ext cx="2697480" cy="457200"/>
          </a:xfrm>
          <a:prstGeom prst="rect">
            <a:avLst/>
          </a:prstGeom>
          <a:noFill/>
          <a:ln/>
        </p:spPr>
        <p:txBody>
          <a:bodyPr wrap="square" lIns="0" tIns="0" rIns="0" bIns="0" rtlCol="0" anchor="t"/>
          <a:lstStyle/>
          <a:p>
            <a:pPr marL="0" indent="0">
              <a:buNone/>
            </a:pPr>
            <a:r>
              <a:rPr lang="en-US" sz="1200" i="1" dirty="0">
                <a:solidFill>
                  <a:srgbClr val="9FB1CF"/>
                </a:solidFill>
                <a:latin typeface="Space Grotesk" pitchFamily="34" charset="0"/>
                <a:ea typeface="Space Grotesk" pitchFamily="34" charset="-122"/>
                <a:cs typeface="Space Grotesk" pitchFamily="34" charset="-120"/>
              </a:rPr>
              <a:t>Invented data. Not Renesas, not a real supplier.</a:t>
            </a:r>
            <a:endParaRPr lang="en-US" sz="1200" dirty="0"/>
          </a:p>
        </p:txBody>
      </p:sp>
      <p:sp>
        <p:nvSpPr>
          <p:cNvPr id="29" name="Source"/>
          <p:cNvSpPr txBox="1"/>
          <p:nvPr/>
        </p:nvSpPr>
        <p:spPr>
          <a:xfrm>
            <a:off x="457200" y="4462272"/>
            <a:ext cx="8229600" cy="228600"/>
          </a:xfrm>
          <a:prstGeom prst="rect">
            <a:avLst/>
          </a:prstGeom>
          <a:noFill/>
          <a:ln/>
        </p:spPr>
        <p:txBody>
          <a:bodyPr wrap="square" lIns="0" tIns="0" rIns="0" bIns="0" rtlCol="0" anchor="ctr"/>
          <a:lstStyle/>
          <a:p>
            <a:pPr marL="0" indent="0">
              <a:buNone/>
            </a:pPr>
            <a:r>
              <a:rPr lang="en-US" sz="900" dirty="0">
                <a:solidFill>
                  <a:srgbClr val="6F83A6"/>
                </a:solidFill>
                <a:latin typeface="IBM Plex Mono" pitchFamily="34" charset="0"/>
                <a:ea typeface="IBM Plex Mono" pitchFamily="34" charset="-122"/>
                <a:cs typeface="IBM Plex Mono" pitchFamily="34" charset="-120"/>
              </a:rPr>
              <a:t>Sources: Embedded Computing Design, 30 Mar 2021; Associated Press, 1 Jun 2021 (see presenter pack).</a:t>
            </a:r>
            <a:endParaRPr lang="en-US" sz="900" dirty="0"/>
          </a:p>
        </p:txBody>
      </p:sp>
      <p:sp>
        <p:nvSpPr>
          <p:cNvPr id="30"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The hard part: what breaks first?</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Impact travels through four layers — usually held in separate systems</a:t>
            </a:r>
            <a:endParaRPr lang="en-US" sz="1400" dirty="0"/>
          </a:p>
        </p:txBody>
      </p:sp>
      <p:sp>
        <p:nvSpPr>
          <p:cNvPr id="4" name="Chain node"/>
          <p:cNvSpPr/>
          <p:nvPr/>
        </p:nvSpPr>
        <p:spPr>
          <a:xfrm>
            <a:off x="457200" y="1325880"/>
            <a:ext cx="1737360" cy="685800"/>
          </a:xfrm>
          <a:prstGeom prst="roundRect">
            <a:avLst>
              <a:gd name="adj" fmla="val 10667"/>
            </a:avLst>
          </a:prstGeom>
          <a:solidFill>
            <a:srgbClr val="16264A">
              <a:alpha val="92000"/>
            </a:srgbClr>
          </a:solidFill>
          <a:ln w="12700">
            <a:solidFill>
              <a:srgbClr val="F0616D"/>
            </a:solidFill>
            <a:prstDash val="solid"/>
          </a:ln>
        </p:spPr>
      </p:sp>
      <p:sp>
        <p:nvSpPr>
          <p:cNvPr id="5" name="Chain label"/>
          <p:cNvSpPr txBox="1"/>
          <p:nvPr/>
        </p:nvSpPr>
        <p:spPr>
          <a:xfrm>
            <a:off x="457200" y="1325880"/>
            <a:ext cx="173736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Space Grotesk" pitchFamily="34" charset="0"/>
                <a:ea typeface="Space Grotesk" pitchFamily="34" charset="-122"/>
                <a:cs typeface="Space Grotesk" pitchFamily="34" charset="-120"/>
              </a:rPr>
              <a:t>Supplier</a:t>
            </a:r>
            <a:endParaRPr lang="en-US" sz="1400" dirty="0"/>
          </a:p>
        </p:txBody>
      </p:sp>
      <p:sp>
        <p:nvSpPr>
          <p:cNvPr id="6" name="Arrow"/>
          <p:cNvSpPr/>
          <p:nvPr/>
        </p:nvSpPr>
        <p:spPr>
          <a:xfrm>
            <a:off x="2240280" y="1668780"/>
            <a:ext cx="274320" cy="0"/>
          </a:xfrm>
          <a:prstGeom prst="line">
            <a:avLst/>
          </a:prstGeom>
          <a:noFill/>
          <a:ln w="22225">
            <a:solidFill>
              <a:srgbClr val="2DD4BF"/>
            </a:solidFill>
            <a:prstDash val="solid"/>
            <a:tailEnd type="triangle"/>
          </a:ln>
        </p:spPr>
      </p:sp>
      <p:sp>
        <p:nvSpPr>
          <p:cNvPr id="7" name="Chain node"/>
          <p:cNvSpPr/>
          <p:nvPr/>
        </p:nvSpPr>
        <p:spPr>
          <a:xfrm>
            <a:off x="2560320" y="1325880"/>
            <a:ext cx="1737360" cy="685800"/>
          </a:xfrm>
          <a:prstGeom prst="roundRect">
            <a:avLst>
              <a:gd name="adj" fmla="val 10667"/>
            </a:avLst>
          </a:prstGeom>
          <a:solidFill>
            <a:srgbClr val="16264A">
              <a:alpha val="92000"/>
            </a:srgbClr>
          </a:solidFill>
          <a:ln w="12700">
            <a:solidFill>
              <a:srgbClr val="2DD4BF"/>
            </a:solidFill>
            <a:prstDash val="solid"/>
          </a:ln>
        </p:spPr>
      </p:sp>
      <p:sp>
        <p:nvSpPr>
          <p:cNvPr id="8" name="Chain label"/>
          <p:cNvSpPr txBox="1"/>
          <p:nvPr/>
        </p:nvSpPr>
        <p:spPr>
          <a:xfrm>
            <a:off x="2560320" y="1325880"/>
            <a:ext cx="173736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Space Grotesk" pitchFamily="34" charset="0"/>
                <a:ea typeface="Space Grotesk" pitchFamily="34" charset="-122"/>
                <a:cs typeface="Space Grotesk" pitchFamily="34" charset="-120"/>
              </a:rPr>
              <a:t>Shipment</a:t>
            </a:r>
            <a:endParaRPr lang="en-US" sz="1400" dirty="0"/>
          </a:p>
        </p:txBody>
      </p:sp>
      <p:sp>
        <p:nvSpPr>
          <p:cNvPr id="9" name="Arrow"/>
          <p:cNvSpPr/>
          <p:nvPr/>
        </p:nvSpPr>
        <p:spPr>
          <a:xfrm>
            <a:off x="4343400" y="1668780"/>
            <a:ext cx="274320" cy="0"/>
          </a:xfrm>
          <a:prstGeom prst="line">
            <a:avLst/>
          </a:prstGeom>
          <a:noFill/>
          <a:ln w="22225">
            <a:solidFill>
              <a:srgbClr val="2DD4BF"/>
            </a:solidFill>
            <a:prstDash val="solid"/>
            <a:tailEnd type="triangle"/>
          </a:ln>
        </p:spPr>
      </p:sp>
      <p:sp>
        <p:nvSpPr>
          <p:cNvPr id="10" name="Chain node"/>
          <p:cNvSpPr/>
          <p:nvPr/>
        </p:nvSpPr>
        <p:spPr>
          <a:xfrm>
            <a:off x="4663440" y="1325880"/>
            <a:ext cx="1737360" cy="685800"/>
          </a:xfrm>
          <a:prstGeom prst="roundRect">
            <a:avLst>
              <a:gd name="adj" fmla="val 10667"/>
            </a:avLst>
          </a:prstGeom>
          <a:solidFill>
            <a:srgbClr val="16264A">
              <a:alpha val="92000"/>
            </a:srgbClr>
          </a:solidFill>
          <a:ln w="12700">
            <a:solidFill>
              <a:srgbClr val="2DD4BF"/>
            </a:solidFill>
            <a:prstDash val="solid"/>
          </a:ln>
        </p:spPr>
      </p:sp>
      <p:sp>
        <p:nvSpPr>
          <p:cNvPr id="11" name="Chain label"/>
          <p:cNvSpPr txBox="1"/>
          <p:nvPr/>
        </p:nvSpPr>
        <p:spPr>
          <a:xfrm>
            <a:off x="4663440" y="1325880"/>
            <a:ext cx="173736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Space Grotesk" pitchFamily="34" charset="0"/>
                <a:ea typeface="Space Grotesk" pitchFamily="34" charset="-122"/>
                <a:cs typeface="Space Grotesk" pitchFamily="34" charset="-120"/>
              </a:rPr>
              <a:t>Inventory</a:t>
            </a:r>
            <a:endParaRPr lang="en-US" sz="1400" dirty="0"/>
          </a:p>
        </p:txBody>
      </p:sp>
      <p:sp>
        <p:nvSpPr>
          <p:cNvPr id="12" name="Arrow"/>
          <p:cNvSpPr/>
          <p:nvPr/>
        </p:nvSpPr>
        <p:spPr>
          <a:xfrm>
            <a:off x="6446520" y="1668780"/>
            <a:ext cx="274320" cy="0"/>
          </a:xfrm>
          <a:prstGeom prst="line">
            <a:avLst/>
          </a:prstGeom>
          <a:noFill/>
          <a:ln w="22225">
            <a:solidFill>
              <a:srgbClr val="2DD4BF"/>
            </a:solidFill>
            <a:prstDash val="solid"/>
            <a:tailEnd type="triangle"/>
          </a:ln>
        </p:spPr>
      </p:sp>
      <p:sp>
        <p:nvSpPr>
          <p:cNvPr id="13" name="Chain node"/>
          <p:cNvSpPr/>
          <p:nvPr/>
        </p:nvSpPr>
        <p:spPr>
          <a:xfrm>
            <a:off x="6766560" y="1325880"/>
            <a:ext cx="1737360" cy="685800"/>
          </a:xfrm>
          <a:prstGeom prst="roundRect">
            <a:avLst>
              <a:gd name="adj" fmla="val 10667"/>
            </a:avLst>
          </a:prstGeom>
          <a:solidFill>
            <a:srgbClr val="16264A">
              <a:alpha val="92000"/>
            </a:srgbClr>
          </a:solidFill>
          <a:ln w="12700">
            <a:solidFill>
              <a:srgbClr val="2DD4BF"/>
            </a:solidFill>
            <a:prstDash val="solid"/>
          </a:ln>
        </p:spPr>
      </p:sp>
      <p:sp>
        <p:nvSpPr>
          <p:cNvPr id="14" name="Chain label"/>
          <p:cNvSpPr txBox="1"/>
          <p:nvPr/>
        </p:nvSpPr>
        <p:spPr>
          <a:xfrm>
            <a:off x="6766560" y="1325880"/>
            <a:ext cx="173736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Space Grotesk" pitchFamily="34" charset="0"/>
                <a:ea typeface="Space Grotesk" pitchFamily="34" charset="-122"/>
                <a:cs typeface="Space Grotesk" pitchFamily="34" charset="-120"/>
              </a:rPr>
              <a:t>Production line</a:t>
            </a:r>
            <a:endParaRPr lang="en-US" sz="1400" dirty="0"/>
          </a:p>
        </p:txBody>
      </p:sp>
      <p:sp>
        <p:nvSpPr>
          <p:cNvPr id="15" name="Question card"/>
          <p:cNvSpPr/>
          <p:nvPr/>
        </p:nvSpPr>
        <p:spPr>
          <a:xfrm>
            <a:off x="457200" y="2331720"/>
            <a:ext cx="2651760" cy="1965960"/>
          </a:xfrm>
          <a:prstGeom prst="roundRect">
            <a:avLst>
              <a:gd name="adj" fmla="val 3721"/>
            </a:avLst>
          </a:prstGeom>
          <a:solidFill>
            <a:srgbClr val="111E3A">
              <a:alpha val="92000"/>
            </a:srgbClr>
          </a:solidFill>
          <a:ln w="12700">
            <a:solidFill>
              <a:srgbClr val="27406B"/>
            </a:solidFill>
            <a:prstDash val="solid"/>
          </a:ln>
        </p:spPr>
      </p:sp>
      <p:sp>
        <p:nvSpPr>
          <p:cNvPr id="16" name="Q number"/>
          <p:cNvSpPr txBox="1"/>
          <p:nvPr/>
        </p:nvSpPr>
        <p:spPr>
          <a:xfrm>
            <a:off x="640080" y="2468880"/>
            <a:ext cx="914400" cy="320040"/>
          </a:xfrm>
          <a:prstGeom prst="rect">
            <a:avLst/>
          </a:prstGeom>
          <a:noFill/>
          <a:ln/>
        </p:spPr>
        <p:txBody>
          <a:bodyPr wrap="square" lIns="0" tIns="0" rIns="0" bIns="0" rtlCol="0" anchor="ctr"/>
          <a:lstStyle/>
          <a:p>
            <a:pPr marL="0" indent="0">
              <a:buNone/>
            </a:pPr>
            <a:r>
              <a:rPr lang="en-US" sz="1600" b="1" dirty="0">
                <a:solidFill>
                  <a:srgbClr val="2DD4BF"/>
                </a:solidFill>
                <a:latin typeface="IBM Plex Mono" pitchFamily="34" charset="0"/>
                <a:ea typeface="IBM Plex Mono" pitchFamily="34" charset="-122"/>
                <a:cs typeface="IBM Plex Mono" pitchFamily="34" charset="-120"/>
              </a:rPr>
              <a:t>01</a:t>
            </a:r>
            <a:endParaRPr lang="en-US" sz="1600" dirty="0"/>
          </a:p>
        </p:txBody>
      </p:sp>
      <p:sp>
        <p:nvSpPr>
          <p:cNvPr id="17" name="Q title"/>
          <p:cNvSpPr txBox="1"/>
          <p:nvPr/>
        </p:nvSpPr>
        <p:spPr>
          <a:xfrm>
            <a:off x="640080" y="2834640"/>
            <a:ext cx="2331720" cy="320040"/>
          </a:xfrm>
          <a:prstGeom prst="rect">
            <a:avLst/>
          </a:prstGeom>
          <a:noFill/>
          <a:ln/>
        </p:spPr>
        <p:txBody>
          <a:bodyPr wrap="square" lIns="0" tIns="0" rIns="0" bIns="0" rtlCol="0" anchor="ctr"/>
          <a:lstStyle/>
          <a:p>
            <a:pPr marL="0" indent="0">
              <a:buNone/>
            </a:pPr>
            <a:r>
              <a:rPr lang="en-US" sz="1600" b="1" dirty="0">
                <a:solidFill>
                  <a:srgbClr val="FFFFFF"/>
                </a:solidFill>
                <a:latin typeface="Space Grotesk" pitchFamily="34" charset="0"/>
                <a:ea typeface="Space Grotesk" pitchFamily="34" charset="-122"/>
                <a:cs typeface="Space Grotesk" pitchFamily="34" charset="-120"/>
              </a:rPr>
              <a:t>Which components?</a:t>
            </a:r>
            <a:endParaRPr lang="en-US" sz="1600" dirty="0"/>
          </a:p>
        </p:txBody>
      </p:sp>
      <p:sp>
        <p:nvSpPr>
          <p:cNvPr id="18" name="Q text"/>
          <p:cNvSpPr txBox="1"/>
          <p:nvPr/>
        </p:nvSpPr>
        <p:spPr>
          <a:xfrm>
            <a:off x="640080" y="3246120"/>
            <a:ext cx="2331720" cy="960120"/>
          </a:xfrm>
          <a:prstGeom prst="rect">
            <a:avLst/>
          </a:prstGeom>
          <a:noFill/>
          <a:ln/>
        </p:spPr>
        <p:txBody>
          <a:bodyPr wrap="square" lIns="0" tIns="0" rIns="0" bIns="0" rtlCol="0" anchor="t"/>
          <a:lstStyle/>
          <a:p>
            <a:pPr marL="0" indent="0">
              <a:buNone/>
            </a:pPr>
            <a:r>
              <a:rPr lang="en-US" sz="1300" dirty="0">
                <a:solidFill>
                  <a:srgbClr val="9FB1CF"/>
                </a:solidFill>
                <a:latin typeface="Space Grotesk" pitchFamily="34" charset="0"/>
                <a:ea typeface="Space Grotesk" pitchFamily="34" charset="-122"/>
                <a:cs typeface="Space Grotesk" pitchFamily="34" charset="-120"/>
              </a:rPr>
              <a:t>A fire at one supplier touches every part it ships — but not every plant equally.</a:t>
            </a:r>
            <a:endParaRPr lang="en-US" sz="1300" dirty="0"/>
          </a:p>
        </p:txBody>
      </p:sp>
      <p:sp>
        <p:nvSpPr>
          <p:cNvPr id="19" name="Question card"/>
          <p:cNvSpPr/>
          <p:nvPr/>
        </p:nvSpPr>
        <p:spPr>
          <a:xfrm>
            <a:off x="3291840" y="2331720"/>
            <a:ext cx="2651760" cy="1965960"/>
          </a:xfrm>
          <a:prstGeom prst="roundRect">
            <a:avLst>
              <a:gd name="adj" fmla="val 3721"/>
            </a:avLst>
          </a:prstGeom>
          <a:solidFill>
            <a:srgbClr val="111E3A">
              <a:alpha val="92000"/>
            </a:srgbClr>
          </a:solidFill>
          <a:ln w="12700">
            <a:solidFill>
              <a:srgbClr val="27406B"/>
            </a:solidFill>
            <a:prstDash val="solid"/>
          </a:ln>
        </p:spPr>
      </p:sp>
      <p:sp>
        <p:nvSpPr>
          <p:cNvPr id="20" name="Q number"/>
          <p:cNvSpPr txBox="1"/>
          <p:nvPr/>
        </p:nvSpPr>
        <p:spPr>
          <a:xfrm>
            <a:off x="3474720" y="2468880"/>
            <a:ext cx="914400" cy="320040"/>
          </a:xfrm>
          <a:prstGeom prst="rect">
            <a:avLst/>
          </a:prstGeom>
          <a:noFill/>
          <a:ln/>
        </p:spPr>
        <p:txBody>
          <a:bodyPr wrap="square" lIns="0" tIns="0" rIns="0" bIns="0" rtlCol="0" anchor="ctr"/>
          <a:lstStyle/>
          <a:p>
            <a:pPr marL="0" indent="0">
              <a:buNone/>
            </a:pPr>
            <a:r>
              <a:rPr lang="en-US" sz="1600" b="1" dirty="0">
                <a:solidFill>
                  <a:srgbClr val="2DD4BF"/>
                </a:solidFill>
                <a:latin typeface="IBM Plex Mono" pitchFamily="34" charset="0"/>
                <a:ea typeface="IBM Plex Mono" pitchFamily="34" charset="-122"/>
                <a:cs typeface="IBM Plex Mono" pitchFamily="34" charset="-120"/>
              </a:rPr>
              <a:t>02</a:t>
            </a:r>
            <a:endParaRPr lang="en-US" sz="1600" dirty="0"/>
          </a:p>
        </p:txBody>
      </p:sp>
      <p:sp>
        <p:nvSpPr>
          <p:cNvPr id="21" name="Q title"/>
          <p:cNvSpPr txBox="1"/>
          <p:nvPr/>
        </p:nvSpPr>
        <p:spPr>
          <a:xfrm>
            <a:off x="3474720" y="2834640"/>
            <a:ext cx="2331720" cy="320040"/>
          </a:xfrm>
          <a:prstGeom prst="rect">
            <a:avLst/>
          </a:prstGeom>
          <a:noFill/>
          <a:ln/>
        </p:spPr>
        <p:txBody>
          <a:bodyPr wrap="square" lIns="0" tIns="0" rIns="0" bIns="0" rtlCol="0" anchor="ctr"/>
          <a:lstStyle/>
          <a:p>
            <a:pPr marL="0" indent="0">
              <a:buNone/>
            </a:pPr>
            <a:r>
              <a:rPr lang="en-US" sz="1600" b="1" dirty="0">
                <a:solidFill>
                  <a:srgbClr val="FFFFFF"/>
                </a:solidFill>
                <a:latin typeface="Space Grotesk" pitchFamily="34" charset="0"/>
                <a:ea typeface="Space Grotesk" pitchFamily="34" charset="-122"/>
                <a:cs typeface="Space Grotesk" pitchFamily="34" charset="-120"/>
              </a:rPr>
              <a:t>Which shipments?</a:t>
            </a:r>
            <a:endParaRPr lang="en-US" sz="1600" dirty="0"/>
          </a:p>
        </p:txBody>
      </p:sp>
      <p:sp>
        <p:nvSpPr>
          <p:cNvPr id="22" name="Q text"/>
          <p:cNvSpPr txBox="1"/>
          <p:nvPr/>
        </p:nvSpPr>
        <p:spPr>
          <a:xfrm>
            <a:off x="3474720" y="3246120"/>
            <a:ext cx="2331720" cy="960120"/>
          </a:xfrm>
          <a:prstGeom prst="rect">
            <a:avLst/>
          </a:prstGeom>
          <a:noFill/>
          <a:ln/>
        </p:spPr>
        <p:txBody>
          <a:bodyPr wrap="square" lIns="0" tIns="0" rIns="0" bIns="0" rtlCol="0" anchor="t"/>
          <a:lstStyle/>
          <a:p>
            <a:pPr marL="0" indent="0">
              <a:buNone/>
            </a:pPr>
            <a:r>
              <a:rPr lang="en-US" sz="1300" dirty="0">
                <a:solidFill>
                  <a:srgbClr val="9FB1CF"/>
                </a:solidFill>
                <a:latin typeface="Space Grotesk" pitchFamily="34" charset="0"/>
                <a:ea typeface="Space Grotesk" pitchFamily="34" charset="-122"/>
                <a:cs typeface="Space Grotesk" pitchFamily="34" charset="-120"/>
              </a:rPr>
              <a:t>Some are in transit and continue; others are not dispatched and are held.</a:t>
            </a:r>
            <a:endParaRPr lang="en-US" sz="1300" dirty="0"/>
          </a:p>
        </p:txBody>
      </p:sp>
      <p:sp>
        <p:nvSpPr>
          <p:cNvPr id="23" name="Question card"/>
          <p:cNvSpPr/>
          <p:nvPr/>
        </p:nvSpPr>
        <p:spPr>
          <a:xfrm>
            <a:off x="6126480" y="2331720"/>
            <a:ext cx="2651760" cy="1965960"/>
          </a:xfrm>
          <a:prstGeom prst="roundRect">
            <a:avLst>
              <a:gd name="adj" fmla="val 3721"/>
            </a:avLst>
          </a:prstGeom>
          <a:solidFill>
            <a:srgbClr val="111E3A">
              <a:alpha val="92000"/>
            </a:srgbClr>
          </a:solidFill>
          <a:ln w="12700">
            <a:solidFill>
              <a:srgbClr val="27406B"/>
            </a:solidFill>
            <a:prstDash val="solid"/>
          </a:ln>
        </p:spPr>
      </p:sp>
      <p:sp>
        <p:nvSpPr>
          <p:cNvPr id="24" name="Q number"/>
          <p:cNvSpPr txBox="1"/>
          <p:nvPr/>
        </p:nvSpPr>
        <p:spPr>
          <a:xfrm>
            <a:off x="6309360" y="2468880"/>
            <a:ext cx="914400" cy="320040"/>
          </a:xfrm>
          <a:prstGeom prst="rect">
            <a:avLst/>
          </a:prstGeom>
          <a:noFill/>
          <a:ln/>
        </p:spPr>
        <p:txBody>
          <a:bodyPr wrap="square" lIns="0" tIns="0" rIns="0" bIns="0" rtlCol="0" anchor="ctr"/>
          <a:lstStyle/>
          <a:p>
            <a:pPr marL="0" indent="0">
              <a:buNone/>
            </a:pPr>
            <a:r>
              <a:rPr lang="en-US" sz="1600" b="1" dirty="0">
                <a:solidFill>
                  <a:srgbClr val="2DD4BF"/>
                </a:solidFill>
                <a:latin typeface="IBM Plex Mono" pitchFamily="34" charset="0"/>
                <a:ea typeface="IBM Plex Mono" pitchFamily="34" charset="-122"/>
                <a:cs typeface="IBM Plex Mono" pitchFamily="34" charset="-120"/>
              </a:rPr>
              <a:t>03</a:t>
            </a:r>
            <a:endParaRPr lang="en-US" sz="1600" dirty="0"/>
          </a:p>
        </p:txBody>
      </p:sp>
      <p:sp>
        <p:nvSpPr>
          <p:cNvPr id="25" name="Q title"/>
          <p:cNvSpPr txBox="1"/>
          <p:nvPr/>
        </p:nvSpPr>
        <p:spPr>
          <a:xfrm>
            <a:off x="6309360" y="2834640"/>
            <a:ext cx="2331720" cy="320040"/>
          </a:xfrm>
          <a:prstGeom prst="rect">
            <a:avLst/>
          </a:prstGeom>
          <a:noFill/>
          <a:ln/>
        </p:spPr>
        <p:txBody>
          <a:bodyPr wrap="square" lIns="0" tIns="0" rIns="0" bIns="0" rtlCol="0" anchor="ctr"/>
          <a:lstStyle/>
          <a:p>
            <a:pPr marL="0" indent="0">
              <a:buNone/>
            </a:pPr>
            <a:r>
              <a:rPr lang="en-US" sz="1600" b="1" dirty="0">
                <a:solidFill>
                  <a:srgbClr val="FFFFFF"/>
                </a:solidFill>
                <a:latin typeface="Space Grotesk" pitchFamily="34" charset="0"/>
                <a:ea typeface="Space Grotesk" pitchFamily="34" charset="-122"/>
                <a:cs typeface="Space Grotesk" pitchFamily="34" charset="-120"/>
              </a:rPr>
              <a:t>Which lines?</a:t>
            </a:r>
            <a:endParaRPr lang="en-US" sz="1600" dirty="0"/>
          </a:p>
        </p:txBody>
      </p:sp>
      <p:sp>
        <p:nvSpPr>
          <p:cNvPr id="26" name="Q text"/>
          <p:cNvSpPr txBox="1"/>
          <p:nvPr/>
        </p:nvSpPr>
        <p:spPr>
          <a:xfrm>
            <a:off x="6309360" y="3246120"/>
            <a:ext cx="2331720" cy="960120"/>
          </a:xfrm>
          <a:prstGeom prst="rect">
            <a:avLst/>
          </a:prstGeom>
          <a:noFill/>
          <a:ln/>
        </p:spPr>
        <p:txBody>
          <a:bodyPr wrap="square" lIns="0" tIns="0" rIns="0" bIns="0" rtlCol="0" anchor="t"/>
          <a:lstStyle/>
          <a:p>
            <a:pPr marL="0" indent="0">
              <a:buNone/>
            </a:pPr>
            <a:r>
              <a:rPr lang="en-US" sz="1300" dirty="0">
                <a:solidFill>
                  <a:srgbClr val="9FB1CF"/>
                </a:solidFill>
                <a:latin typeface="Space Grotesk" pitchFamily="34" charset="0"/>
                <a:ea typeface="Space Grotesk" pitchFamily="34" charset="-122"/>
                <a:cs typeface="Space Grotesk" pitchFamily="34" charset="-120"/>
              </a:rPr>
              <a:t>Stock covers some lines for weeks, others for days. The gap stays hidden until it is not.</a:t>
            </a:r>
            <a:endParaRPr lang="en-US" sz="1300" dirty="0"/>
          </a:p>
        </p:txBody>
      </p:sp>
      <p:sp>
        <p:nvSpPr>
          <p:cNvPr id="27" name="Closing question"/>
          <p:cNvSpPr txBox="1"/>
          <p:nvPr/>
        </p:nvSpPr>
        <p:spPr>
          <a:xfrm>
            <a:off x="457200" y="4434840"/>
            <a:ext cx="8229600" cy="274320"/>
          </a:xfrm>
          <a:prstGeom prst="rect">
            <a:avLst/>
          </a:prstGeom>
          <a:noFill/>
          <a:ln/>
        </p:spPr>
        <p:txBody>
          <a:bodyPr wrap="square" lIns="0" tIns="0" rIns="0" bIns="0" rtlCol="0" anchor="ctr"/>
          <a:lstStyle/>
          <a:p>
            <a:pPr marL="0" indent="0">
              <a:buNone/>
            </a:pPr>
            <a:r>
              <a:rPr lang="en-US" sz="1300" b="1" dirty="0">
                <a:solidFill>
                  <a:srgbClr val="22D3EE"/>
                </a:solidFill>
                <a:latin typeface="Space Grotesk" pitchFamily="34" charset="0"/>
                <a:ea typeface="Space Grotesk" pitchFamily="34" charset="-122"/>
                <a:cs typeface="Space Grotesk" pitchFamily="34" charset="-120"/>
              </a:rPr>
              <a:t>Then: which recovery response, at what cost, time and risk?</a:t>
            </a:r>
            <a:endParaRPr lang="en-US" sz="1300" dirty="0"/>
          </a:p>
        </p:txBody>
      </p:sp>
      <p:sp>
        <p:nvSpPr>
          <p:cNvPr id="28"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From disruption to decision</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A continuity and decision-support engine — it recommends, it never executes</a:t>
            </a:r>
            <a:endParaRPr lang="en-US" sz="1400" dirty="0"/>
          </a:p>
        </p:txBody>
      </p:sp>
      <p:sp>
        <p:nvSpPr>
          <p:cNvPr id="4" name="Step card"/>
          <p:cNvSpPr/>
          <p:nvPr/>
        </p:nvSpPr>
        <p:spPr>
          <a:xfrm>
            <a:off x="457200" y="1417320"/>
            <a:ext cx="1920240" cy="2331720"/>
          </a:xfrm>
          <a:prstGeom prst="roundRect">
            <a:avLst>
              <a:gd name="adj" fmla="val 3810"/>
            </a:avLst>
          </a:prstGeom>
          <a:solidFill>
            <a:srgbClr val="111E3A">
              <a:alpha val="92000"/>
            </a:srgbClr>
          </a:solidFill>
          <a:ln w="12700">
            <a:solidFill>
              <a:srgbClr val="27406B"/>
            </a:solidFill>
            <a:prstDash val="solid"/>
          </a:ln>
        </p:spPr>
      </p:sp>
      <p:sp>
        <p:nvSpPr>
          <p:cNvPr id="5" name="Step badge"/>
          <p:cNvSpPr/>
          <p:nvPr/>
        </p:nvSpPr>
        <p:spPr>
          <a:xfrm>
            <a:off x="640080" y="1600200"/>
            <a:ext cx="457200" cy="457200"/>
          </a:xfrm>
          <a:prstGeom prst="ellipse">
            <a:avLst/>
          </a:prstGeom>
          <a:solidFill>
            <a:srgbClr val="2DD4BF">
              <a:alpha val="20000"/>
            </a:srgbClr>
          </a:solidFill>
          <a:ln w="15875">
            <a:solidFill>
              <a:srgbClr val="2DD4BF"/>
            </a:solidFill>
            <a:prstDash val="solid"/>
          </a:ln>
        </p:spPr>
      </p:sp>
      <p:sp>
        <p:nvSpPr>
          <p:cNvPr id="6" name="Step number"/>
          <p:cNvSpPr txBox="1"/>
          <p:nvPr/>
        </p:nvSpPr>
        <p:spPr>
          <a:xfrm>
            <a:off x="640080" y="1600200"/>
            <a:ext cx="457200" cy="457200"/>
          </a:xfrm>
          <a:prstGeom prst="rect">
            <a:avLst/>
          </a:prstGeom>
          <a:noFill/>
          <a:ln/>
        </p:spPr>
        <p:txBody>
          <a:bodyPr wrap="square" lIns="0" tIns="0" rIns="0" bIns="0" rtlCol="0" anchor="ctr"/>
          <a:lstStyle/>
          <a:p>
            <a:pPr marL="0" indent="0" algn="ctr">
              <a:buNone/>
            </a:pPr>
            <a:r>
              <a:rPr lang="en-US" sz="1600" b="1" dirty="0">
                <a:solidFill>
                  <a:srgbClr val="2DD4BF"/>
                </a:solidFill>
                <a:latin typeface="IBM Plex Mono" pitchFamily="34" charset="0"/>
                <a:ea typeface="IBM Plex Mono" pitchFamily="34" charset="-122"/>
                <a:cs typeface="IBM Plex Mono" pitchFamily="34" charset="-120"/>
              </a:rPr>
              <a:t>1</a:t>
            </a:r>
            <a:endParaRPr lang="en-US" sz="1600" dirty="0"/>
          </a:p>
        </p:txBody>
      </p:sp>
      <p:sp>
        <p:nvSpPr>
          <p:cNvPr id="7" name="Step name"/>
          <p:cNvSpPr txBox="1"/>
          <p:nvPr/>
        </p:nvSpPr>
        <p:spPr>
          <a:xfrm>
            <a:off x="640080" y="2194560"/>
            <a:ext cx="1645920" cy="320040"/>
          </a:xfrm>
          <a:prstGeom prst="rect">
            <a:avLst/>
          </a:prstGeom>
          <a:noFill/>
          <a:ln/>
        </p:spPr>
        <p:txBody>
          <a:bodyPr wrap="square" lIns="0" tIns="0" rIns="0" bIns="0" rtlCol="0" anchor="ctr"/>
          <a:lstStyle/>
          <a:p>
            <a:pPr marL="0" indent="0">
              <a:buNone/>
            </a:pPr>
            <a:r>
              <a:rPr lang="en-US" sz="1400" b="1" kern="0" spc="100" dirty="0">
                <a:solidFill>
                  <a:srgbClr val="FFFFFF"/>
                </a:solidFill>
                <a:latin typeface="IBM Plex Mono" pitchFamily="34" charset="0"/>
                <a:ea typeface="IBM Plex Mono" pitchFamily="34" charset="-122"/>
                <a:cs typeface="IBM Plex Mono" pitchFamily="34" charset="-120"/>
              </a:rPr>
              <a:t>EXAMINE</a:t>
            </a:r>
            <a:endParaRPr lang="en-US" sz="1400" dirty="0"/>
          </a:p>
        </p:txBody>
      </p:sp>
      <p:sp>
        <p:nvSpPr>
          <p:cNvPr id="8" name="Step text"/>
          <p:cNvSpPr txBox="1"/>
          <p:nvPr/>
        </p:nvSpPr>
        <p:spPr>
          <a:xfrm>
            <a:off x="640080" y="2560320"/>
            <a:ext cx="1600200" cy="1143000"/>
          </a:xfrm>
          <a:prstGeom prst="rect">
            <a:avLst/>
          </a:prstGeom>
          <a:noFill/>
          <a:ln/>
        </p:spPr>
        <p:txBody>
          <a:bodyPr wrap="square" lIns="0" tIns="0" rIns="0" bIns="0" rtlCol="0" anchor="t"/>
          <a:lstStyle/>
          <a:p>
            <a:pPr marL="0" indent="0">
              <a:buNone/>
            </a:pPr>
            <a:r>
              <a:rPr lang="en-US" sz="1250" dirty="0">
                <a:solidFill>
                  <a:srgbClr val="9FB1CF"/>
                </a:solidFill>
                <a:latin typeface="Space Grotesk" pitchFamily="34" charset="0"/>
                <a:ea typeface="Space Grotesk" pitchFamily="34" charset="-122"/>
                <a:cs typeface="Space Grotesk" pitchFamily="34" charset="-120"/>
              </a:rPr>
              <a:t>Pick a disruption: supplier failure, shipment delay or port closure, inventory shortage</a:t>
            </a:r>
            <a:endParaRPr lang="en-US" sz="1250" dirty="0"/>
          </a:p>
        </p:txBody>
      </p:sp>
      <p:sp>
        <p:nvSpPr>
          <p:cNvPr id="9" name="Arrow"/>
          <p:cNvSpPr/>
          <p:nvPr/>
        </p:nvSpPr>
        <p:spPr>
          <a:xfrm>
            <a:off x="2395728" y="2578608"/>
            <a:ext cx="146304" cy="0"/>
          </a:xfrm>
          <a:prstGeom prst="line">
            <a:avLst/>
          </a:prstGeom>
          <a:noFill/>
          <a:ln w="22225">
            <a:solidFill>
              <a:srgbClr val="2DD4BF"/>
            </a:solidFill>
            <a:prstDash val="solid"/>
            <a:tailEnd type="triangle"/>
          </a:ln>
        </p:spPr>
      </p:sp>
      <p:sp>
        <p:nvSpPr>
          <p:cNvPr id="10" name="Step card"/>
          <p:cNvSpPr/>
          <p:nvPr/>
        </p:nvSpPr>
        <p:spPr>
          <a:xfrm>
            <a:off x="2560320" y="1417320"/>
            <a:ext cx="1920240" cy="2331720"/>
          </a:xfrm>
          <a:prstGeom prst="roundRect">
            <a:avLst>
              <a:gd name="adj" fmla="val 3810"/>
            </a:avLst>
          </a:prstGeom>
          <a:solidFill>
            <a:srgbClr val="111E3A">
              <a:alpha val="92000"/>
            </a:srgbClr>
          </a:solidFill>
          <a:ln w="12700">
            <a:solidFill>
              <a:srgbClr val="27406B"/>
            </a:solidFill>
            <a:prstDash val="solid"/>
          </a:ln>
        </p:spPr>
      </p:sp>
      <p:sp>
        <p:nvSpPr>
          <p:cNvPr id="11" name="Step badge"/>
          <p:cNvSpPr/>
          <p:nvPr/>
        </p:nvSpPr>
        <p:spPr>
          <a:xfrm>
            <a:off x="2743200" y="1600200"/>
            <a:ext cx="457200" cy="457200"/>
          </a:xfrm>
          <a:prstGeom prst="ellipse">
            <a:avLst/>
          </a:prstGeom>
          <a:solidFill>
            <a:srgbClr val="2DD4BF">
              <a:alpha val="20000"/>
            </a:srgbClr>
          </a:solidFill>
          <a:ln w="15875">
            <a:solidFill>
              <a:srgbClr val="2DD4BF"/>
            </a:solidFill>
            <a:prstDash val="solid"/>
          </a:ln>
        </p:spPr>
      </p:sp>
      <p:sp>
        <p:nvSpPr>
          <p:cNvPr id="12" name="Step number"/>
          <p:cNvSpPr txBox="1"/>
          <p:nvPr/>
        </p:nvSpPr>
        <p:spPr>
          <a:xfrm>
            <a:off x="2743200" y="1600200"/>
            <a:ext cx="457200" cy="457200"/>
          </a:xfrm>
          <a:prstGeom prst="rect">
            <a:avLst/>
          </a:prstGeom>
          <a:noFill/>
          <a:ln/>
        </p:spPr>
        <p:txBody>
          <a:bodyPr wrap="square" lIns="0" tIns="0" rIns="0" bIns="0" rtlCol="0" anchor="ctr"/>
          <a:lstStyle/>
          <a:p>
            <a:pPr marL="0" indent="0" algn="ctr">
              <a:buNone/>
            </a:pPr>
            <a:r>
              <a:rPr lang="en-US" sz="1600" b="1" dirty="0">
                <a:solidFill>
                  <a:srgbClr val="2DD4BF"/>
                </a:solidFill>
                <a:latin typeface="IBM Plex Mono" pitchFamily="34" charset="0"/>
                <a:ea typeface="IBM Plex Mono" pitchFamily="34" charset="-122"/>
                <a:cs typeface="IBM Plex Mono" pitchFamily="34" charset="-120"/>
              </a:rPr>
              <a:t>2</a:t>
            </a:r>
            <a:endParaRPr lang="en-US" sz="1600" dirty="0"/>
          </a:p>
        </p:txBody>
      </p:sp>
      <p:sp>
        <p:nvSpPr>
          <p:cNvPr id="13" name="Step name"/>
          <p:cNvSpPr txBox="1"/>
          <p:nvPr/>
        </p:nvSpPr>
        <p:spPr>
          <a:xfrm>
            <a:off x="2743200" y="2194560"/>
            <a:ext cx="1645920" cy="320040"/>
          </a:xfrm>
          <a:prstGeom prst="rect">
            <a:avLst/>
          </a:prstGeom>
          <a:noFill/>
          <a:ln/>
        </p:spPr>
        <p:txBody>
          <a:bodyPr wrap="square" lIns="0" tIns="0" rIns="0" bIns="0" rtlCol="0" anchor="ctr"/>
          <a:lstStyle/>
          <a:p>
            <a:pPr marL="0" indent="0">
              <a:buNone/>
            </a:pPr>
            <a:r>
              <a:rPr lang="en-US" sz="1400" b="1" kern="0" spc="100" dirty="0">
                <a:solidFill>
                  <a:srgbClr val="FFFFFF"/>
                </a:solidFill>
                <a:latin typeface="IBM Plex Mono" pitchFamily="34" charset="0"/>
                <a:ea typeface="IBM Plex Mono" pitchFamily="34" charset="-122"/>
                <a:cs typeface="IBM Plex Mono" pitchFamily="34" charset="-120"/>
              </a:rPr>
              <a:t>ASSESS</a:t>
            </a:r>
            <a:endParaRPr lang="en-US" sz="1400" dirty="0"/>
          </a:p>
        </p:txBody>
      </p:sp>
      <p:sp>
        <p:nvSpPr>
          <p:cNvPr id="14" name="Step text"/>
          <p:cNvSpPr txBox="1"/>
          <p:nvPr/>
        </p:nvSpPr>
        <p:spPr>
          <a:xfrm>
            <a:off x="2743200" y="2560320"/>
            <a:ext cx="1600200" cy="1143000"/>
          </a:xfrm>
          <a:prstGeom prst="rect">
            <a:avLst/>
          </a:prstGeom>
          <a:noFill/>
          <a:ln/>
        </p:spPr>
        <p:txBody>
          <a:bodyPr wrap="square" lIns="0" tIns="0" rIns="0" bIns="0" rtlCol="0" anchor="t"/>
          <a:lstStyle/>
          <a:p>
            <a:pPr marL="0" indent="0">
              <a:buNone/>
            </a:pPr>
            <a:r>
              <a:rPr lang="en-US" sz="1250" dirty="0">
                <a:solidFill>
                  <a:srgbClr val="9FB1CF"/>
                </a:solidFill>
                <a:latin typeface="Space Grotesk" pitchFamily="34" charset="0"/>
                <a:ea typeface="Space Grotesk" pitchFamily="34" charset="-122"/>
                <a:cs typeface="Space Grotesk" pitchFamily="34" charset="-120"/>
              </a:rPr>
              <a:t>Trace supplier → shipment → stock → line. Project the stockout day and estimated loss</a:t>
            </a:r>
            <a:endParaRPr lang="en-US" sz="1250" dirty="0"/>
          </a:p>
        </p:txBody>
      </p:sp>
      <p:sp>
        <p:nvSpPr>
          <p:cNvPr id="15" name="Arrow"/>
          <p:cNvSpPr/>
          <p:nvPr/>
        </p:nvSpPr>
        <p:spPr>
          <a:xfrm>
            <a:off x="4498848" y="2578608"/>
            <a:ext cx="146304" cy="0"/>
          </a:xfrm>
          <a:prstGeom prst="line">
            <a:avLst/>
          </a:prstGeom>
          <a:noFill/>
          <a:ln w="22225">
            <a:solidFill>
              <a:srgbClr val="2DD4BF"/>
            </a:solidFill>
            <a:prstDash val="solid"/>
            <a:tailEnd type="triangle"/>
          </a:ln>
        </p:spPr>
      </p:sp>
      <p:sp>
        <p:nvSpPr>
          <p:cNvPr id="16" name="Step card"/>
          <p:cNvSpPr/>
          <p:nvPr/>
        </p:nvSpPr>
        <p:spPr>
          <a:xfrm>
            <a:off x="4663440" y="1417320"/>
            <a:ext cx="1920240" cy="2331720"/>
          </a:xfrm>
          <a:prstGeom prst="roundRect">
            <a:avLst>
              <a:gd name="adj" fmla="val 3810"/>
            </a:avLst>
          </a:prstGeom>
          <a:solidFill>
            <a:srgbClr val="111E3A">
              <a:alpha val="92000"/>
            </a:srgbClr>
          </a:solidFill>
          <a:ln w="12700">
            <a:solidFill>
              <a:srgbClr val="27406B"/>
            </a:solidFill>
            <a:prstDash val="solid"/>
          </a:ln>
        </p:spPr>
      </p:sp>
      <p:sp>
        <p:nvSpPr>
          <p:cNvPr id="17" name="Step badge"/>
          <p:cNvSpPr/>
          <p:nvPr/>
        </p:nvSpPr>
        <p:spPr>
          <a:xfrm>
            <a:off x="4846320" y="1600200"/>
            <a:ext cx="457200" cy="457200"/>
          </a:xfrm>
          <a:prstGeom prst="ellipse">
            <a:avLst/>
          </a:prstGeom>
          <a:solidFill>
            <a:srgbClr val="2DD4BF">
              <a:alpha val="20000"/>
            </a:srgbClr>
          </a:solidFill>
          <a:ln w="15875">
            <a:solidFill>
              <a:srgbClr val="2DD4BF"/>
            </a:solidFill>
            <a:prstDash val="solid"/>
          </a:ln>
        </p:spPr>
      </p:sp>
      <p:sp>
        <p:nvSpPr>
          <p:cNvPr id="18" name="Step number"/>
          <p:cNvSpPr txBox="1"/>
          <p:nvPr/>
        </p:nvSpPr>
        <p:spPr>
          <a:xfrm>
            <a:off x="4846320" y="1600200"/>
            <a:ext cx="457200" cy="457200"/>
          </a:xfrm>
          <a:prstGeom prst="rect">
            <a:avLst/>
          </a:prstGeom>
          <a:noFill/>
          <a:ln/>
        </p:spPr>
        <p:txBody>
          <a:bodyPr wrap="square" lIns="0" tIns="0" rIns="0" bIns="0" rtlCol="0" anchor="ctr"/>
          <a:lstStyle/>
          <a:p>
            <a:pPr marL="0" indent="0" algn="ctr">
              <a:buNone/>
            </a:pPr>
            <a:r>
              <a:rPr lang="en-US" sz="1600" b="1" dirty="0">
                <a:solidFill>
                  <a:srgbClr val="2DD4BF"/>
                </a:solidFill>
                <a:latin typeface="IBM Plex Mono" pitchFamily="34" charset="0"/>
                <a:ea typeface="IBM Plex Mono" pitchFamily="34" charset="-122"/>
                <a:cs typeface="IBM Plex Mono" pitchFamily="34" charset="-120"/>
              </a:rPr>
              <a:t>3</a:t>
            </a:r>
            <a:endParaRPr lang="en-US" sz="1600" dirty="0"/>
          </a:p>
        </p:txBody>
      </p:sp>
      <p:sp>
        <p:nvSpPr>
          <p:cNvPr id="19" name="Step name"/>
          <p:cNvSpPr txBox="1"/>
          <p:nvPr/>
        </p:nvSpPr>
        <p:spPr>
          <a:xfrm>
            <a:off x="4846320" y="2194560"/>
            <a:ext cx="1645920" cy="320040"/>
          </a:xfrm>
          <a:prstGeom prst="rect">
            <a:avLst/>
          </a:prstGeom>
          <a:noFill/>
          <a:ln/>
        </p:spPr>
        <p:txBody>
          <a:bodyPr wrap="square" lIns="0" tIns="0" rIns="0" bIns="0" rtlCol="0" anchor="ctr"/>
          <a:lstStyle/>
          <a:p>
            <a:pPr marL="0" indent="0">
              <a:buNone/>
            </a:pPr>
            <a:r>
              <a:rPr lang="en-US" sz="1400" b="1" kern="0" spc="100" dirty="0">
                <a:solidFill>
                  <a:srgbClr val="FFFFFF"/>
                </a:solidFill>
                <a:latin typeface="IBM Plex Mono" pitchFamily="34" charset="0"/>
                <a:ea typeface="IBM Plex Mono" pitchFamily="34" charset="-122"/>
                <a:cs typeface="IBM Plex Mono" pitchFamily="34" charset="-120"/>
              </a:rPr>
              <a:t>COMPARE</a:t>
            </a:r>
            <a:endParaRPr lang="en-US" sz="1400" dirty="0"/>
          </a:p>
        </p:txBody>
      </p:sp>
      <p:sp>
        <p:nvSpPr>
          <p:cNvPr id="20" name="Step text"/>
          <p:cNvSpPr txBox="1"/>
          <p:nvPr/>
        </p:nvSpPr>
        <p:spPr>
          <a:xfrm>
            <a:off x="4846320" y="2560320"/>
            <a:ext cx="1600200" cy="1143000"/>
          </a:xfrm>
          <a:prstGeom prst="rect">
            <a:avLst/>
          </a:prstGeom>
          <a:noFill/>
          <a:ln/>
        </p:spPr>
        <p:txBody>
          <a:bodyPr wrap="square" lIns="0" tIns="0" rIns="0" bIns="0" rtlCol="0" anchor="t"/>
          <a:lstStyle/>
          <a:p>
            <a:pPr marL="0" indent="0">
              <a:buNone/>
            </a:pPr>
            <a:r>
              <a:rPr lang="en-US" sz="1250" dirty="0">
                <a:solidFill>
                  <a:srgbClr val="9FB1CF"/>
                </a:solidFill>
                <a:latin typeface="Space Grotesk" pitchFamily="34" charset="0"/>
                <a:ea typeface="Space Grotesk" pitchFamily="34" charset="-122"/>
                <a:cs typeface="Space Grotesk" pitchFamily="34" charset="-120"/>
              </a:rPr>
              <a:t>Score recovery options against a no-action baseline with a visible formula</a:t>
            </a:r>
            <a:endParaRPr lang="en-US" sz="1250" dirty="0"/>
          </a:p>
        </p:txBody>
      </p:sp>
      <p:sp>
        <p:nvSpPr>
          <p:cNvPr id="21" name="Arrow"/>
          <p:cNvSpPr/>
          <p:nvPr/>
        </p:nvSpPr>
        <p:spPr>
          <a:xfrm>
            <a:off x="6601968" y="2578608"/>
            <a:ext cx="146304" cy="0"/>
          </a:xfrm>
          <a:prstGeom prst="line">
            <a:avLst/>
          </a:prstGeom>
          <a:noFill/>
          <a:ln w="22225">
            <a:solidFill>
              <a:srgbClr val="2DD4BF"/>
            </a:solidFill>
            <a:prstDash val="solid"/>
            <a:tailEnd type="triangle"/>
          </a:ln>
        </p:spPr>
      </p:sp>
      <p:sp>
        <p:nvSpPr>
          <p:cNvPr id="22" name="Step card"/>
          <p:cNvSpPr/>
          <p:nvPr/>
        </p:nvSpPr>
        <p:spPr>
          <a:xfrm>
            <a:off x="6766560" y="1417320"/>
            <a:ext cx="1920240" cy="2331720"/>
          </a:xfrm>
          <a:prstGeom prst="roundRect">
            <a:avLst>
              <a:gd name="adj" fmla="val 3810"/>
            </a:avLst>
          </a:prstGeom>
          <a:solidFill>
            <a:srgbClr val="111E3A">
              <a:alpha val="92000"/>
            </a:srgbClr>
          </a:solidFill>
          <a:ln w="12700">
            <a:solidFill>
              <a:srgbClr val="2DD4BF"/>
            </a:solidFill>
            <a:prstDash val="solid"/>
          </a:ln>
        </p:spPr>
      </p:sp>
      <p:sp>
        <p:nvSpPr>
          <p:cNvPr id="23" name="Step badge"/>
          <p:cNvSpPr/>
          <p:nvPr/>
        </p:nvSpPr>
        <p:spPr>
          <a:xfrm>
            <a:off x="6949440" y="1600200"/>
            <a:ext cx="457200" cy="457200"/>
          </a:xfrm>
          <a:prstGeom prst="ellipse">
            <a:avLst/>
          </a:prstGeom>
          <a:solidFill>
            <a:srgbClr val="2DD4BF">
              <a:alpha val="20000"/>
            </a:srgbClr>
          </a:solidFill>
          <a:ln w="15875">
            <a:solidFill>
              <a:srgbClr val="2DD4BF"/>
            </a:solidFill>
            <a:prstDash val="solid"/>
          </a:ln>
        </p:spPr>
      </p:sp>
      <p:sp>
        <p:nvSpPr>
          <p:cNvPr id="24" name="Step number"/>
          <p:cNvSpPr txBox="1"/>
          <p:nvPr/>
        </p:nvSpPr>
        <p:spPr>
          <a:xfrm>
            <a:off x="6949440" y="1600200"/>
            <a:ext cx="457200" cy="457200"/>
          </a:xfrm>
          <a:prstGeom prst="rect">
            <a:avLst/>
          </a:prstGeom>
          <a:noFill/>
          <a:ln/>
        </p:spPr>
        <p:txBody>
          <a:bodyPr wrap="square" lIns="0" tIns="0" rIns="0" bIns="0" rtlCol="0" anchor="ctr"/>
          <a:lstStyle/>
          <a:p>
            <a:pPr marL="0" indent="0" algn="ctr">
              <a:buNone/>
            </a:pPr>
            <a:r>
              <a:rPr lang="en-US" sz="1600" b="1" dirty="0">
                <a:solidFill>
                  <a:srgbClr val="2DD4BF"/>
                </a:solidFill>
                <a:latin typeface="IBM Plex Mono" pitchFamily="34" charset="0"/>
                <a:ea typeface="IBM Plex Mono" pitchFamily="34" charset="-122"/>
                <a:cs typeface="IBM Plex Mono" pitchFamily="34" charset="-120"/>
              </a:rPr>
              <a:t>4</a:t>
            </a:r>
            <a:endParaRPr lang="en-US" sz="1600" dirty="0"/>
          </a:p>
        </p:txBody>
      </p:sp>
      <p:sp>
        <p:nvSpPr>
          <p:cNvPr id="25" name="Step name"/>
          <p:cNvSpPr txBox="1"/>
          <p:nvPr/>
        </p:nvSpPr>
        <p:spPr>
          <a:xfrm>
            <a:off x="6949440" y="2194560"/>
            <a:ext cx="1645920" cy="320040"/>
          </a:xfrm>
          <a:prstGeom prst="rect">
            <a:avLst/>
          </a:prstGeom>
          <a:noFill/>
          <a:ln/>
        </p:spPr>
        <p:txBody>
          <a:bodyPr wrap="square" lIns="0" tIns="0" rIns="0" bIns="0" rtlCol="0" anchor="ctr"/>
          <a:lstStyle/>
          <a:p>
            <a:pPr marL="0" indent="0">
              <a:buNone/>
            </a:pPr>
            <a:r>
              <a:rPr lang="en-US" sz="1400" b="1" kern="0" spc="100" dirty="0">
                <a:solidFill>
                  <a:srgbClr val="FFFFFF"/>
                </a:solidFill>
                <a:latin typeface="IBM Plex Mono" pitchFamily="34" charset="0"/>
                <a:ea typeface="IBM Plex Mono" pitchFamily="34" charset="-122"/>
                <a:cs typeface="IBM Plex Mono" pitchFamily="34" charset="-120"/>
              </a:rPr>
              <a:t>DECIDE</a:t>
            </a:r>
            <a:endParaRPr lang="en-US" sz="1400" dirty="0"/>
          </a:p>
        </p:txBody>
      </p:sp>
      <p:sp>
        <p:nvSpPr>
          <p:cNvPr id="26" name="Step text"/>
          <p:cNvSpPr txBox="1"/>
          <p:nvPr/>
        </p:nvSpPr>
        <p:spPr>
          <a:xfrm>
            <a:off x="6949440" y="2560320"/>
            <a:ext cx="1600200" cy="1143000"/>
          </a:xfrm>
          <a:prstGeom prst="rect">
            <a:avLst/>
          </a:prstGeom>
          <a:noFill/>
          <a:ln/>
        </p:spPr>
        <p:txBody>
          <a:bodyPr wrap="square" lIns="0" tIns="0" rIns="0" bIns="0" rtlCol="0" anchor="t"/>
          <a:lstStyle/>
          <a:p>
            <a:pPr marL="0" indent="0">
              <a:buNone/>
            </a:pPr>
            <a:r>
              <a:rPr lang="en-US" sz="1250" dirty="0">
                <a:solidFill>
                  <a:srgbClr val="9FB1CF"/>
                </a:solidFill>
                <a:latin typeface="Space Grotesk" pitchFamily="34" charset="0"/>
                <a:ea typeface="Space Grotesk" pitchFamily="34" charset="-122"/>
                <a:cs typeface="Space Grotesk" pitchFamily="34" charset="-120"/>
              </a:rPr>
              <a:t>Flag approval, record approve / reject / defer with a note</a:t>
            </a:r>
            <a:endParaRPr lang="en-US" sz="1250" dirty="0"/>
          </a:p>
        </p:txBody>
      </p:sp>
      <p:sp>
        <p:nvSpPr>
          <p:cNvPr id="27" name="Principle box"/>
          <p:cNvSpPr/>
          <p:nvPr/>
        </p:nvSpPr>
        <p:spPr>
          <a:xfrm>
            <a:off x="457200" y="4023360"/>
            <a:ext cx="2743200" cy="256032"/>
          </a:xfrm>
          <a:prstGeom prst="roundRect">
            <a:avLst>
              <a:gd name="adj" fmla="val 17857"/>
            </a:avLst>
          </a:prstGeom>
          <a:solidFill>
            <a:srgbClr val="2DD4BF">
              <a:alpha val="15000"/>
            </a:srgbClr>
          </a:solidFill>
          <a:ln w="9525">
            <a:solidFill>
              <a:srgbClr val="2DD4BF"/>
            </a:solidFill>
            <a:prstDash val="solid"/>
          </a:ln>
        </p:spPr>
      </p:sp>
      <p:sp>
        <p:nvSpPr>
          <p:cNvPr id="28" name="Principle text"/>
          <p:cNvSpPr txBox="1"/>
          <p:nvPr/>
        </p:nvSpPr>
        <p:spPr>
          <a:xfrm>
            <a:off x="457200" y="4023360"/>
            <a:ext cx="2743200" cy="256032"/>
          </a:xfrm>
          <a:prstGeom prst="rect">
            <a:avLst/>
          </a:prstGeom>
          <a:noFill/>
          <a:ln/>
        </p:spPr>
        <p:txBody>
          <a:bodyPr wrap="square" lIns="0" tIns="0" rIns="0" bIns="0" rtlCol="0" anchor="ctr"/>
          <a:lstStyle/>
          <a:p>
            <a:pPr marL="0" indent="0" algn="ctr">
              <a:buNone/>
            </a:pPr>
            <a:r>
              <a:rPr lang="en-US" sz="1000" b="1" kern="0" spc="50" dirty="0">
                <a:solidFill>
                  <a:srgbClr val="2DD4BF"/>
                </a:solidFill>
                <a:latin typeface="IBM Plex Mono" pitchFamily="34" charset="0"/>
                <a:ea typeface="IBM Plex Mono" pitchFamily="34" charset="-122"/>
                <a:cs typeface="IBM Plex Mono" pitchFamily="34" charset="-120"/>
              </a:rPr>
              <a:t>DETERMINISTIC &amp; EXPLAINABLE</a:t>
            </a:r>
            <a:endParaRPr lang="en-US" sz="1000" dirty="0"/>
          </a:p>
        </p:txBody>
      </p:sp>
      <p:sp>
        <p:nvSpPr>
          <p:cNvPr id="29" name="Principle box"/>
          <p:cNvSpPr/>
          <p:nvPr/>
        </p:nvSpPr>
        <p:spPr>
          <a:xfrm>
            <a:off x="3383280" y="4023360"/>
            <a:ext cx="2011680" cy="256032"/>
          </a:xfrm>
          <a:prstGeom prst="roundRect">
            <a:avLst>
              <a:gd name="adj" fmla="val 17857"/>
            </a:avLst>
          </a:prstGeom>
          <a:solidFill>
            <a:srgbClr val="22D3EE">
              <a:alpha val="15000"/>
            </a:srgbClr>
          </a:solidFill>
          <a:ln w="9525">
            <a:solidFill>
              <a:srgbClr val="22D3EE"/>
            </a:solidFill>
            <a:prstDash val="solid"/>
          </a:ln>
        </p:spPr>
      </p:sp>
      <p:sp>
        <p:nvSpPr>
          <p:cNvPr id="30" name="Principle text"/>
          <p:cNvSpPr txBox="1"/>
          <p:nvPr/>
        </p:nvSpPr>
        <p:spPr>
          <a:xfrm>
            <a:off x="3383280" y="4023360"/>
            <a:ext cx="2011680" cy="256032"/>
          </a:xfrm>
          <a:prstGeom prst="rect">
            <a:avLst/>
          </a:prstGeom>
          <a:noFill/>
          <a:ln/>
        </p:spPr>
        <p:txBody>
          <a:bodyPr wrap="square" lIns="0" tIns="0" rIns="0" bIns="0" rtlCol="0" anchor="ctr"/>
          <a:lstStyle/>
          <a:p>
            <a:pPr marL="0" indent="0" algn="ctr">
              <a:buNone/>
            </a:pPr>
            <a:r>
              <a:rPr lang="en-US" sz="1000" b="1" kern="0" spc="50" dirty="0">
                <a:solidFill>
                  <a:srgbClr val="22D3EE"/>
                </a:solidFill>
                <a:latin typeface="IBM Plex Mono" pitchFamily="34" charset="0"/>
                <a:ea typeface="IBM Plex Mono" pitchFamily="34" charset="-122"/>
                <a:cs typeface="IBM Plex Mono" pitchFamily="34" charset="-120"/>
              </a:rPr>
              <a:t>NO MACHINE LEARNING</a:t>
            </a:r>
            <a:endParaRPr lang="en-US" sz="1000" dirty="0"/>
          </a:p>
        </p:txBody>
      </p:sp>
      <p:sp>
        <p:nvSpPr>
          <p:cNvPr id="31" name="Principle box"/>
          <p:cNvSpPr/>
          <p:nvPr/>
        </p:nvSpPr>
        <p:spPr>
          <a:xfrm>
            <a:off x="5577840" y="4023360"/>
            <a:ext cx="2743200" cy="256032"/>
          </a:xfrm>
          <a:prstGeom prst="roundRect">
            <a:avLst>
              <a:gd name="adj" fmla="val 17857"/>
            </a:avLst>
          </a:prstGeom>
          <a:solidFill>
            <a:srgbClr val="F5B342">
              <a:alpha val="15000"/>
            </a:srgbClr>
          </a:solidFill>
          <a:ln w="9525">
            <a:solidFill>
              <a:srgbClr val="F5B342"/>
            </a:solidFill>
            <a:prstDash val="solid"/>
          </a:ln>
        </p:spPr>
      </p:sp>
      <p:sp>
        <p:nvSpPr>
          <p:cNvPr id="32" name="Principle text"/>
          <p:cNvSpPr txBox="1"/>
          <p:nvPr/>
        </p:nvSpPr>
        <p:spPr>
          <a:xfrm>
            <a:off x="5577840" y="4023360"/>
            <a:ext cx="2743200" cy="256032"/>
          </a:xfrm>
          <a:prstGeom prst="rect">
            <a:avLst/>
          </a:prstGeom>
          <a:noFill/>
          <a:ln/>
        </p:spPr>
        <p:txBody>
          <a:bodyPr wrap="square" lIns="0" tIns="0" rIns="0" bIns="0" rtlCol="0" anchor="ctr"/>
          <a:lstStyle/>
          <a:p>
            <a:pPr marL="0" indent="0" algn="ctr">
              <a:buNone/>
            </a:pPr>
            <a:r>
              <a:rPr lang="en-US" sz="1000" b="1" kern="0" spc="50" dirty="0">
                <a:solidFill>
                  <a:srgbClr val="F5B342"/>
                </a:solidFill>
                <a:latin typeface="IBM Plex Mono" pitchFamily="34" charset="0"/>
                <a:ea typeface="IBM Plex Mono" pitchFamily="34" charset="-122"/>
                <a:cs typeface="IBM Plex Mono" pitchFamily="34" charset="-120"/>
              </a:rPr>
              <a:t>ASSUMPTIONS SHOWN IN THE UI</a:t>
            </a:r>
            <a:endParaRPr lang="en-US" sz="1000" dirty="0"/>
          </a:p>
        </p:txBody>
      </p:sp>
      <p:sp>
        <p:nvSpPr>
          <p:cNvPr id="3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Live product walkthrough</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Command Center — real screenshot of the supplied app</a:t>
            </a:r>
            <a:endParaRPr lang="en-US" sz="1400" dirty="0"/>
          </a:p>
        </p:txBody>
      </p:sp>
      <p:pic>
        <p:nvPicPr>
          <p:cNvPr id="4" name="Screenshot: Command Center" descr="SupplyShield Command Center in synthetic demo mode showing risk index 31, 2 of 8 positions at risk, earliest stockout 18.5 days, estimated no-action cost INR 94.76 lakh"/>
          <p:cNvPicPr>
            <a:picLocks noChangeAspect="1"/>
          </p:cNvPicPr>
          <p:nvPr/>
        </p:nvPicPr>
        <p:blipFill>
          <a:blip r:embed="rId3"/>
          <a:stretch>
            <a:fillRect/>
          </a:stretch>
        </p:blipFill>
        <p:spPr>
          <a:xfrm>
            <a:off x="457200" y="1280160"/>
            <a:ext cx="5486400" cy="3116961"/>
          </a:xfrm>
          <a:prstGeom prst="rect">
            <a:avLst/>
          </a:prstGeom>
        </p:spPr>
      </p:pic>
      <p:sp>
        <p:nvSpPr>
          <p:cNvPr id="5" name="Screenshot frame"/>
          <p:cNvSpPr/>
          <p:nvPr/>
        </p:nvSpPr>
        <p:spPr>
          <a:xfrm>
            <a:off x="457200" y="1280160"/>
            <a:ext cx="5486400" cy="3116961"/>
          </a:xfrm>
          <a:prstGeom prst="rect">
            <a:avLst/>
          </a:prstGeom>
          <a:solidFill>
            <a:srgbClr val="0A1428">
              <a:alpha val="0"/>
            </a:srgbClr>
          </a:solidFill>
          <a:ln w="15875">
            <a:solidFill>
              <a:srgbClr val="2DD4BF"/>
            </a:solidFill>
            <a:prstDash val="solid"/>
          </a:ln>
        </p:spPr>
      </p:sp>
      <p:sp>
        <p:nvSpPr>
          <p:cNvPr id="6" name="Mode tag box"/>
          <p:cNvSpPr/>
          <p:nvPr/>
        </p:nvSpPr>
        <p:spPr>
          <a:xfrm>
            <a:off x="457200" y="4434840"/>
            <a:ext cx="2194560" cy="256032"/>
          </a:xfrm>
          <a:prstGeom prst="roundRect">
            <a:avLst>
              <a:gd name="adj" fmla="val 17857"/>
            </a:avLst>
          </a:prstGeom>
          <a:solidFill>
            <a:srgbClr val="F5B342">
              <a:alpha val="15000"/>
            </a:srgbClr>
          </a:solidFill>
          <a:ln w="9525">
            <a:solidFill>
              <a:srgbClr val="F5B342"/>
            </a:solidFill>
            <a:prstDash val="solid"/>
          </a:ln>
        </p:spPr>
      </p:sp>
      <p:sp>
        <p:nvSpPr>
          <p:cNvPr id="8" name="Illustrative note"/>
          <p:cNvSpPr txBox="1"/>
          <p:nvPr/>
        </p:nvSpPr>
        <p:spPr>
          <a:xfrm>
            <a:off x="2788920" y="4434840"/>
            <a:ext cx="2286000" cy="256032"/>
          </a:xfrm>
          <a:prstGeom prst="rect">
            <a:avLst/>
          </a:prstGeom>
          <a:noFill/>
          <a:ln/>
        </p:spPr>
        <p:txBody>
          <a:bodyPr wrap="square" lIns="0" tIns="0" rIns="0" bIns="0" rtlCol="0" anchor="ctr"/>
          <a:lstStyle/>
          <a:p>
            <a:pPr marL="0" indent="0">
              <a:buNone/>
            </a:pPr>
            <a:r>
              <a:rPr lang="en-US" sz="1200" dirty="0">
                <a:solidFill>
                  <a:srgbClr val="9FB1CF"/>
                </a:solidFill>
                <a:latin typeface="Space Grotesk" pitchFamily="34" charset="0"/>
                <a:ea typeface="Space Grotesk" pitchFamily="34" charset="-122"/>
                <a:cs typeface="Space Grotesk" pitchFamily="34" charset="-120"/>
              </a:rPr>
              <a:t>Illustrative figures</a:t>
            </a:r>
            <a:endParaRPr lang="en-US" sz="1200" dirty="0"/>
          </a:p>
        </p:txBody>
      </p:sp>
      <p:sp>
        <p:nvSpPr>
          <p:cNvPr id="9" name="Feature marker"/>
          <p:cNvSpPr/>
          <p:nvPr/>
        </p:nvSpPr>
        <p:spPr>
          <a:xfrm>
            <a:off x="6263640" y="1280160"/>
            <a:ext cx="45720" cy="640080"/>
          </a:xfrm>
          <a:prstGeom prst="rect">
            <a:avLst/>
          </a:prstGeom>
          <a:solidFill>
            <a:srgbClr val="2DD4BF"/>
          </a:solidFill>
          <a:ln w="12700">
            <a:solidFill>
              <a:srgbClr val="2DD4BF"/>
            </a:solidFill>
            <a:prstDash val="solid"/>
          </a:ln>
        </p:spPr>
      </p:sp>
      <p:sp>
        <p:nvSpPr>
          <p:cNvPr id="10" name="Feature name"/>
          <p:cNvSpPr txBox="1"/>
          <p:nvPr/>
        </p:nvSpPr>
        <p:spPr>
          <a:xfrm>
            <a:off x="6446520" y="1280160"/>
            <a:ext cx="2240280" cy="256032"/>
          </a:xfrm>
          <a:prstGeom prst="rect">
            <a:avLst/>
          </a:prstGeom>
          <a:noFill/>
          <a:ln/>
        </p:spPr>
        <p:txBody>
          <a:bodyPr wrap="square" lIns="0" tIns="0" rIns="0" bIns="0" rtlCol="0" anchor="ctr"/>
          <a:lstStyle/>
          <a:p>
            <a:pPr marL="0" indent="0">
              <a:buNone/>
            </a:pPr>
            <a:r>
              <a:rPr lang="en-US" sz="1050" b="1" kern="0" spc="100" dirty="0">
                <a:solidFill>
                  <a:srgbClr val="2DD4BF"/>
                </a:solidFill>
                <a:latin typeface="IBM Plex Mono" pitchFamily="34" charset="0"/>
                <a:ea typeface="IBM Plex Mono" pitchFamily="34" charset="-122"/>
                <a:cs typeface="IBM Plex Mono" pitchFamily="34" charset="-120"/>
              </a:rPr>
              <a:t>COMMAND CENTER</a:t>
            </a:r>
            <a:endParaRPr lang="en-US" sz="1050" dirty="0"/>
          </a:p>
        </p:txBody>
      </p:sp>
      <p:sp>
        <p:nvSpPr>
          <p:cNvPr id="11" name="Feature text"/>
          <p:cNvSpPr txBox="1"/>
          <p:nvPr/>
        </p:nvSpPr>
        <p:spPr>
          <a:xfrm>
            <a:off x="6446520" y="1554480"/>
            <a:ext cx="2240280" cy="411480"/>
          </a:xfrm>
          <a:prstGeom prst="rect">
            <a:avLst/>
          </a:prstGeom>
          <a:noFill/>
          <a:ln/>
        </p:spPr>
        <p:txBody>
          <a:bodyPr wrap="square" lIns="0" tIns="0" rIns="0" bIns="0" rtlCol="0" anchor="t"/>
          <a:lstStyle/>
          <a:p>
            <a:pPr marL="0" indent="0">
              <a:buNone/>
            </a:pPr>
            <a:r>
              <a:rPr lang="en-US" sz="1250" dirty="0">
                <a:solidFill>
                  <a:srgbClr val="FFFFFF"/>
                </a:solidFill>
                <a:latin typeface="Space Grotesk" pitchFamily="34" charset="0"/>
                <a:ea typeface="Space Grotesk" pitchFamily="34" charset="-122"/>
                <a:cs typeface="Space Grotesk" pitchFamily="34" charset="-120"/>
              </a:rPr>
              <a:t>Risk, stockouts, next actions</a:t>
            </a:r>
            <a:endParaRPr lang="en-US" sz="1250" dirty="0"/>
          </a:p>
        </p:txBody>
      </p:sp>
      <p:sp>
        <p:nvSpPr>
          <p:cNvPr id="12" name="Feature marker"/>
          <p:cNvSpPr/>
          <p:nvPr/>
        </p:nvSpPr>
        <p:spPr>
          <a:xfrm>
            <a:off x="6263640" y="2057400"/>
            <a:ext cx="45720" cy="640080"/>
          </a:xfrm>
          <a:prstGeom prst="rect">
            <a:avLst/>
          </a:prstGeom>
          <a:solidFill>
            <a:srgbClr val="2DD4BF"/>
          </a:solidFill>
          <a:ln w="12700">
            <a:solidFill>
              <a:srgbClr val="2DD4BF"/>
            </a:solidFill>
            <a:prstDash val="solid"/>
          </a:ln>
        </p:spPr>
      </p:sp>
      <p:sp>
        <p:nvSpPr>
          <p:cNvPr id="13" name="Feature name"/>
          <p:cNvSpPr txBox="1"/>
          <p:nvPr/>
        </p:nvSpPr>
        <p:spPr>
          <a:xfrm>
            <a:off x="6446520" y="2057400"/>
            <a:ext cx="2240280" cy="256032"/>
          </a:xfrm>
          <a:prstGeom prst="rect">
            <a:avLst/>
          </a:prstGeom>
          <a:noFill/>
          <a:ln/>
        </p:spPr>
        <p:txBody>
          <a:bodyPr wrap="square" lIns="0" tIns="0" rIns="0" bIns="0" rtlCol="0" anchor="ctr"/>
          <a:lstStyle/>
          <a:p>
            <a:pPr marL="0" indent="0">
              <a:buNone/>
            </a:pPr>
            <a:r>
              <a:rPr lang="en-US" sz="1050" b="1" kern="0" spc="100" dirty="0">
                <a:solidFill>
                  <a:srgbClr val="2DD4BF"/>
                </a:solidFill>
                <a:latin typeface="IBM Plex Mono" pitchFamily="34" charset="0"/>
                <a:ea typeface="IBM Plex Mono" pitchFamily="34" charset="-122"/>
                <a:cs typeface="IBM Plex Mono" pitchFamily="34" charset="-120"/>
              </a:rPr>
              <a:t>SIMULATOR</a:t>
            </a:r>
            <a:endParaRPr lang="en-US" sz="1050" dirty="0"/>
          </a:p>
        </p:txBody>
      </p:sp>
      <p:sp>
        <p:nvSpPr>
          <p:cNvPr id="14" name="Feature text"/>
          <p:cNvSpPr txBox="1"/>
          <p:nvPr/>
        </p:nvSpPr>
        <p:spPr>
          <a:xfrm>
            <a:off x="6446520" y="2331720"/>
            <a:ext cx="2240280" cy="411480"/>
          </a:xfrm>
          <a:prstGeom prst="rect">
            <a:avLst/>
          </a:prstGeom>
          <a:noFill/>
          <a:ln/>
        </p:spPr>
        <p:txBody>
          <a:bodyPr wrap="square" lIns="0" tIns="0" rIns="0" bIns="0" rtlCol="0" anchor="t"/>
          <a:lstStyle/>
          <a:p>
            <a:pPr marL="0" indent="0">
              <a:buNone/>
            </a:pPr>
            <a:r>
              <a:rPr lang="en-US" sz="1250" dirty="0">
                <a:solidFill>
                  <a:srgbClr val="FFFFFF"/>
                </a:solidFill>
                <a:latin typeface="Space Grotesk" pitchFamily="34" charset="0"/>
                <a:ea typeface="Space Grotesk" pitchFamily="34" charset="-122"/>
                <a:cs typeface="Space Grotesk" pitchFamily="34" charset="-120"/>
              </a:rPr>
              <a:t>Cascade and projected stock</a:t>
            </a:r>
            <a:endParaRPr lang="en-US" sz="1250" dirty="0"/>
          </a:p>
        </p:txBody>
      </p:sp>
      <p:sp>
        <p:nvSpPr>
          <p:cNvPr id="15" name="Feature marker"/>
          <p:cNvSpPr/>
          <p:nvPr/>
        </p:nvSpPr>
        <p:spPr>
          <a:xfrm>
            <a:off x="6263640" y="2834640"/>
            <a:ext cx="45720" cy="640080"/>
          </a:xfrm>
          <a:prstGeom prst="rect">
            <a:avLst/>
          </a:prstGeom>
          <a:solidFill>
            <a:srgbClr val="2DD4BF"/>
          </a:solidFill>
          <a:ln w="12700">
            <a:solidFill>
              <a:srgbClr val="2DD4BF"/>
            </a:solidFill>
            <a:prstDash val="solid"/>
          </a:ln>
        </p:spPr>
      </p:sp>
      <p:sp>
        <p:nvSpPr>
          <p:cNvPr id="16" name="Feature name"/>
          <p:cNvSpPr txBox="1"/>
          <p:nvPr/>
        </p:nvSpPr>
        <p:spPr>
          <a:xfrm>
            <a:off x="6446520" y="2834640"/>
            <a:ext cx="2240280" cy="256032"/>
          </a:xfrm>
          <a:prstGeom prst="rect">
            <a:avLst/>
          </a:prstGeom>
          <a:noFill/>
          <a:ln/>
        </p:spPr>
        <p:txBody>
          <a:bodyPr wrap="square" lIns="0" tIns="0" rIns="0" bIns="0" rtlCol="0" anchor="ctr"/>
          <a:lstStyle/>
          <a:p>
            <a:pPr marL="0" indent="0">
              <a:buNone/>
            </a:pPr>
            <a:r>
              <a:rPr lang="en-US" sz="1050" b="1" kern="0" spc="100" dirty="0">
                <a:solidFill>
                  <a:srgbClr val="2DD4BF"/>
                </a:solidFill>
                <a:latin typeface="IBM Plex Mono" pitchFamily="34" charset="0"/>
                <a:ea typeface="IBM Plex Mono" pitchFamily="34" charset="-122"/>
                <a:cs typeface="IBM Plex Mono" pitchFamily="34" charset="-120"/>
              </a:rPr>
              <a:t>RECOVERY</a:t>
            </a:r>
            <a:endParaRPr lang="en-US" sz="1050" dirty="0"/>
          </a:p>
        </p:txBody>
      </p:sp>
      <p:sp>
        <p:nvSpPr>
          <p:cNvPr id="17" name="Feature text"/>
          <p:cNvSpPr txBox="1"/>
          <p:nvPr/>
        </p:nvSpPr>
        <p:spPr>
          <a:xfrm>
            <a:off x="6446520" y="3108960"/>
            <a:ext cx="2240280" cy="411480"/>
          </a:xfrm>
          <a:prstGeom prst="rect">
            <a:avLst/>
          </a:prstGeom>
          <a:noFill/>
          <a:ln/>
        </p:spPr>
        <p:txBody>
          <a:bodyPr wrap="square" lIns="0" tIns="0" rIns="0" bIns="0" rtlCol="0" anchor="t"/>
          <a:lstStyle/>
          <a:p>
            <a:pPr marL="0" indent="0">
              <a:buNone/>
            </a:pPr>
            <a:r>
              <a:rPr lang="en-US" sz="1250" dirty="0">
                <a:solidFill>
                  <a:srgbClr val="FFFFFF"/>
                </a:solidFill>
                <a:latin typeface="Space Grotesk" pitchFamily="34" charset="0"/>
                <a:ea typeface="Space Grotesk" pitchFamily="34" charset="-122"/>
                <a:cs typeface="Space Grotesk" pitchFamily="34" charset="-120"/>
              </a:rPr>
              <a:t>Options vs. no-action baseline</a:t>
            </a:r>
            <a:endParaRPr lang="en-US" sz="1250" dirty="0"/>
          </a:p>
        </p:txBody>
      </p:sp>
      <p:sp>
        <p:nvSpPr>
          <p:cNvPr id="18" name="Feature marker"/>
          <p:cNvSpPr/>
          <p:nvPr/>
        </p:nvSpPr>
        <p:spPr>
          <a:xfrm>
            <a:off x="6263640" y="3611880"/>
            <a:ext cx="45720" cy="640080"/>
          </a:xfrm>
          <a:prstGeom prst="rect">
            <a:avLst/>
          </a:prstGeom>
          <a:solidFill>
            <a:srgbClr val="2DD4BF"/>
          </a:solidFill>
          <a:ln w="12700">
            <a:solidFill>
              <a:srgbClr val="2DD4BF"/>
            </a:solidFill>
            <a:prstDash val="solid"/>
          </a:ln>
        </p:spPr>
      </p:sp>
      <p:sp>
        <p:nvSpPr>
          <p:cNvPr id="19" name="Feature name"/>
          <p:cNvSpPr txBox="1"/>
          <p:nvPr/>
        </p:nvSpPr>
        <p:spPr>
          <a:xfrm>
            <a:off x="6446520" y="3611880"/>
            <a:ext cx="2240280" cy="256032"/>
          </a:xfrm>
          <a:prstGeom prst="rect">
            <a:avLst/>
          </a:prstGeom>
          <a:noFill/>
          <a:ln/>
        </p:spPr>
        <p:txBody>
          <a:bodyPr wrap="square" lIns="0" tIns="0" rIns="0" bIns="0" rtlCol="0" anchor="ctr"/>
          <a:lstStyle/>
          <a:p>
            <a:pPr marL="0" indent="0">
              <a:buNone/>
            </a:pPr>
            <a:r>
              <a:rPr lang="en-US" sz="1050" b="1" kern="0" spc="100" dirty="0">
                <a:solidFill>
                  <a:srgbClr val="2DD4BF"/>
                </a:solidFill>
                <a:latin typeface="IBM Plex Mono" pitchFamily="34" charset="0"/>
                <a:ea typeface="IBM Plex Mono" pitchFamily="34" charset="-122"/>
                <a:cs typeface="IBM Plex Mono" pitchFamily="34" charset="-120"/>
              </a:rPr>
              <a:t>DECISION LOG</a:t>
            </a:r>
            <a:endParaRPr lang="en-US" sz="1050" dirty="0"/>
          </a:p>
        </p:txBody>
      </p:sp>
      <p:sp>
        <p:nvSpPr>
          <p:cNvPr id="20" name="Feature text"/>
          <p:cNvSpPr txBox="1"/>
          <p:nvPr/>
        </p:nvSpPr>
        <p:spPr>
          <a:xfrm>
            <a:off x="6446520" y="3886200"/>
            <a:ext cx="2240280" cy="411480"/>
          </a:xfrm>
          <a:prstGeom prst="rect">
            <a:avLst/>
          </a:prstGeom>
          <a:noFill/>
          <a:ln/>
        </p:spPr>
        <p:txBody>
          <a:bodyPr wrap="square" lIns="0" tIns="0" rIns="0" bIns="0" rtlCol="0" anchor="t"/>
          <a:lstStyle/>
          <a:p>
            <a:pPr marL="0" indent="0">
              <a:buNone/>
            </a:pPr>
            <a:r>
              <a:rPr lang="en-US" sz="1250" dirty="0">
                <a:solidFill>
                  <a:srgbClr val="FFFFFF"/>
                </a:solidFill>
                <a:latin typeface="Space Grotesk" pitchFamily="34" charset="0"/>
                <a:ea typeface="Space Grotesk" pitchFamily="34" charset="-122"/>
                <a:cs typeface="Space Grotesk" pitchFamily="34" charset="-120"/>
              </a:rPr>
              <a:t>Human decision per run</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How it works: architecture</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Mapped to the actual code — verified parts vs. parts awaiting a live test</a:t>
            </a:r>
            <a:endParaRPr lang="en-US" sz="1400" dirty="0"/>
          </a:p>
        </p:txBody>
      </p:sp>
      <p:sp>
        <p:nvSpPr>
          <p:cNvPr id="4" name="Browser box"/>
          <p:cNvSpPr/>
          <p:nvPr/>
        </p:nvSpPr>
        <p:spPr>
          <a:xfrm>
            <a:off x="457200" y="1828800"/>
            <a:ext cx="1463040" cy="914400"/>
          </a:xfrm>
          <a:prstGeom prst="roundRect">
            <a:avLst>
              <a:gd name="adj" fmla="val 8000"/>
            </a:avLst>
          </a:prstGeom>
          <a:solidFill>
            <a:srgbClr val="16264A">
              <a:alpha val="92000"/>
            </a:srgbClr>
          </a:solidFill>
          <a:ln w="19050">
            <a:solidFill>
              <a:srgbClr val="2DD4BF"/>
            </a:solidFill>
            <a:prstDash val="solid"/>
          </a:ln>
        </p:spPr>
      </p:sp>
      <p:sp>
        <p:nvSpPr>
          <p:cNvPr id="5" name="Browser head"/>
          <p:cNvSpPr txBox="1"/>
          <p:nvPr/>
        </p:nvSpPr>
        <p:spPr>
          <a:xfrm>
            <a:off x="502920" y="1901952"/>
            <a:ext cx="1371600" cy="292608"/>
          </a:xfrm>
          <a:prstGeom prst="rect">
            <a:avLst/>
          </a:prstGeom>
          <a:noFill/>
          <a:ln/>
        </p:spPr>
        <p:txBody>
          <a:bodyPr wrap="square" lIns="0" tIns="0" rIns="0" bIns="0" rtlCol="0" anchor="t"/>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Dashboard</a:t>
            </a:r>
            <a:endParaRPr lang="en-US" sz="1250" dirty="0"/>
          </a:p>
        </p:txBody>
      </p:sp>
      <p:sp>
        <p:nvSpPr>
          <p:cNvPr id="6" name="Browser detail"/>
          <p:cNvSpPr txBox="1"/>
          <p:nvPr/>
        </p:nvSpPr>
        <p:spPr>
          <a:xfrm>
            <a:off x="530352" y="2212848"/>
            <a:ext cx="1316736" cy="493776"/>
          </a:xfrm>
          <a:prstGeom prst="rect">
            <a:avLst/>
          </a:prstGeom>
          <a:noFill/>
          <a:ln/>
        </p:spPr>
        <p:txBody>
          <a:bodyPr wrap="square" lIns="0" tIns="0" rIns="0" bIns="0" rtlCol="0" anchor="t"/>
          <a:lstStyle/>
          <a:p>
            <a:pPr marL="0" indent="0" algn="ctr">
              <a:buNone/>
            </a:pPr>
            <a:r>
              <a:rPr lang="en-US" sz="950" dirty="0">
                <a:solidFill>
                  <a:srgbClr val="9FB1CF"/>
                </a:solidFill>
                <a:latin typeface="IBM Plex Mono" pitchFamily="34" charset="0"/>
                <a:ea typeface="IBM Plex Mono" pitchFamily="34" charset="-122"/>
                <a:cs typeface="IBM Plex Mono" pitchFamily="34" charset="-120"/>
              </a:rPr>
              <a:t>browser UI</a:t>
            </a: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no DB access</a:t>
            </a:r>
            <a:endParaRPr lang="en-US" sz="950" dirty="0"/>
          </a:p>
        </p:txBody>
      </p:sp>
      <p:sp>
        <p:nvSpPr>
          <p:cNvPr id="7" name="Flask box"/>
          <p:cNvSpPr/>
          <p:nvPr/>
        </p:nvSpPr>
        <p:spPr>
          <a:xfrm>
            <a:off x="2148840" y="1828800"/>
            <a:ext cx="1463040" cy="914400"/>
          </a:xfrm>
          <a:prstGeom prst="roundRect">
            <a:avLst>
              <a:gd name="adj" fmla="val 8000"/>
            </a:avLst>
          </a:prstGeom>
          <a:solidFill>
            <a:srgbClr val="16264A">
              <a:alpha val="92000"/>
            </a:srgbClr>
          </a:solidFill>
          <a:ln w="19050">
            <a:solidFill>
              <a:srgbClr val="2DD4BF"/>
            </a:solidFill>
            <a:prstDash val="solid"/>
          </a:ln>
        </p:spPr>
      </p:sp>
      <p:sp>
        <p:nvSpPr>
          <p:cNvPr id="8" name="Flask head"/>
          <p:cNvSpPr txBox="1"/>
          <p:nvPr/>
        </p:nvSpPr>
        <p:spPr>
          <a:xfrm>
            <a:off x="2194560" y="1901952"/>
            <a:ext cx="1371600" cy="292608"/>
          </a:xfrm>
          <a:prstGeom prst="rect">
            <a:avLst/>
          </a:prstGeom>
          <a:noFill/>
          <a:ln/>
        </p:spPr>
        <p:txBody>
          <a:bodyPr wrap="square" lIns="0" tIns="0" rIns="0" bIns="0" rtlCol="0" anchor="t"/>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Flask API</a:t>
            </a:r>
            <a:endParaRPr lang="en-US" sz="1250" dirty="0"/>
          </a:p>
        </p:txBody>
      </p:sp>
      <p:sp>
        <p:nvSpPr>
          <p:cNvPr id="9" name="Flask detail"/>
          <p:cNvSpPr txBox="1"/>
          <p:nvPr/>
        </p:nvSpPr>
        <p:spPr>
          <a:xfrm>
            <a:off x="2221992" y="2212848"/>
            <a:ext cx="1316736" cy="493776"/>
          </a:xfrm>
          <a:prstGeom prst="rect">
            <a:avLst/>
          </a:prstGeom>
          <a:noFill/>
          <a:ln/>
        </p:spPr>
        <p:txBody>
          <a:bodyPr wrap="square" lIns="0" tIns="0" rIns="0" bIns="0" rtlCol="0" anchor="t"/>
          <a:lstStyle/>
          <a:p>
            <a:pPr marL="0" indent="0" algn="ctr">
              <a:buNone/>
            </a:pPr>
            <a:r>
              <a:rPr lang="en-US" sz="950" dirty="0">
                <a:solidFill>
                  <a:srgbClr val="9FB1CF"/>
                </a:solidFill>
                <a:latin typeface="IBM Plex Mono" pitchFamily="34" charset="0"/>
                <a:ea typeface="IBM Plex Mono" pitchFamily="34" charset="-122"/>
                <a:cs typeface="IBM Plex Mono" pitchFamily="34" charset="-120"/>
              </a:rPr>
              <a:t>app.py</a:t>
            </a: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JSON endpoints</a:t>
            </a:r>
            <a:endParaRPr lang="en-US" sz="950" dirty="0"/>
          </a:p>
        </p:txBody>
      </p:sp>
      <p:sp>
        <p:nvSpPr>
          <p:cNvPr id="10" name="AppService box"/>
          <p:cNvSpPr/>
          <p:nvPr/>
        </p:nvSpPr>
        <p:spPr>
          <a:xfrm>
            <a:off x="3840480" y="1280160"/>
            <a:ext cx="1463040" cy="2057400"/>
          </a:xfrm>
          <a:prstGeom prst="roundRect">
            <a:avLst>
              <a:gd name="adj" fmla="val 5000"/>
            </a:avLst>
          </a:prstGeom>
          <a:solidFill>
            <a:srgbClr val="16264A">
              <a:alpha val="92000"/>
            </a:srgbClr>
          </a:solidFill>
          <a:ln w="19050">
            <a:solidFill>
              <a:srgbClr val="2DD4BF"/>
            </a:solidFill>
            <a:prstDash val="solid"/>
          </a:ln>
        </p:spPr>
      </p:sp>
      <p:sp>
        <p:nvSpPr>
          <p:cNvPr id="11" name="AppService head"/>
          <p:cNvSpPr txBox="1"/>
          <p:nvPr/>
        </p:nvSpPr>
        <p:spPr>
          <a:xfrm>
            <a:off x="3886200" y="1353312"/>
            <a:ext cx="1371600" cy="292608"/>
          </a:xfrm>
          <a:prstGeom prst="rect">
            <a:avLst/>
          </a:prstGeom>
          <a:noFill/>
          <a:ln/>
        </p:spPr>
        <p:txBody>
          <a:bodyPr wrap="square" lIns="0" tIns="0" rIns="0" bIns="0" rtlCol="0" anchor="t"/>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AppService</a:t>
            </a:r>
            <a:endParaRPr lang="en-US" sz="1250" dirty="0"/>
          </a:p>
        </p:txBody>
      </p:sp>
      <p:sp>
        <p:nvSpPr>
          <p:cNvPr id="12" name="AppService detail"/>
          <p:cNvSpPr txBox="1"/>
          <p:nvPr/>
        </p:nvSpPr>
        <p:spPr>
          <a:xfrm>
            <a:off x="3913632" y="1664208"/>
            <a:ext cx="1316736" cy="1636776"/>
          </a:xfrm>
          <a:prstGeom prst="rect">
            <a:avLst/>
          </a:prstGeom>
          <a:noFill/>
          <a:ln/>
        </p:spPr>
        <p:txBody>
          <a:bodyPr wrap="square" lIns="0" tIns="0" rIns="0" bIns="0" rtlCol="0" anchor="t"/>
          <a:lstStyle/>
          <a:p>
            <a:pPr marL="0" indent="0" algn="ctr">
              <a:buNone/>
            </a:pPr>
            <a:r>
              <a:rPr lang="en-US" sz="950" dirty="0">
                <a:solidFill>
                  <a:srgbClr val="9FB1CF"/>
                </a:solidFill>
                <a:latin typeface="IBM Plex Mono" pitchFamily="34" charset="0"/>
                <a:ea typeface="IBM Plex Mono" pitchFamily="34" charset="-122"/>
                <a:cs typeface="IBM Plex Mono" pitchFamily="34" charset="-120"/>
              </a:rPr>
              <a:t>mode · cache</a:t>
            </a: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decisions</a:t>
            </a:r>
            <a:endParaRPr lang="en-US" sz="950" dirty="0"/>
          </a:p>
          <a:p>
            <a:pPr marL="0" indent="0" algn="ctr">
              <a:buNone/>
            </a:pP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Exasol only after</a:t>
            </a: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SELECT 1 succeeds</a:t>
            </a:r>
            <a:endParaRPr lang="en-US" sz="950" dirty="0"/>
          </a:p>
        </p:txBody>
      </p:sp>
      <p:sp>
        <p:nvSpPr>
          <p:cNvPr id="13" name="Engine box"/>
          <p:cNvSpPr/>
          <p:nvPr/>
        </p:nvSpPr>
        <p:spPr>
          <a:xfrm>
            <a:off x="5532120" y="1280160"/>
            <a:ext cx="1463040" cy="914400"/>
          </a:xfrm>
          <a:prstGeom prst="roundRect">
            <a:avLst>
              <a:gd name="adj" fmla="val 8000"/>
            </a:avLst>
          </a:prstGeom>
          <a:solidFill>
            <a:srgbClr val="16264A">
              <a:alpha val="92000"/>
            </a:srgbClr>
          </a:solidFill>
          <a:ln w="19050">
            <a:solidFill>
              <a:srgbClr val="2DD4BF"/>
            </a:solidFill>
            <a:prstDash val="solid"/>
          </a:ln>
        </p:spPr>
      </p:sp>
      <p:sp>
        <p:nvSpPr>
          <p:cNvPr id="14" name="Engine head"/>
          <p:cNvSpPr txBox="1"/>
          <p:nvPr/>
        </p:nvSpPr>
        <p:spPr>
          <a:xfrm>
            <a:off x="5577840" y="1353312"/>
            <a:ext cx="1371600" cy="292608"/>
          </a:xfrm>
          <a:prstGeom prst="rect">
            <a:avLst/>
          </a:prstGeom>
          <a:noFill/>
          <a:ln/>
        </p:spPr>
        <p:txBody>
          <a:bodyPr wrap="square" lIns="0" tIns="0" rIns="0" bIns="0" rtlCol="0" anchor="t"/>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Engine</a:t>
            </a:r>
            <a:endParaRPr lang="en-US" sz="1250" dirty="0"/>
          </a:p>
        </p:txBody>
      </p:sp>
      <p:sp>
        <p:nvSpPr>
          <p:cNvPr id="15" name="Engine detail"/>
          <p:cNvSpPr txBox="1"/>
          <p:nvPr/>
        </p:nvSpPr>
        <p:spPr>
          <a:xfrm>
            <a:off x="5605272" y="1664208"/>
            <a:ext cx="1316736" cy="493776"/>
          </a:xfrm>
          <a:prstGeom prst="rect">
            <a:avLst/>
          </a:prstGeom>
          <a:noFill/>
          <a:ln/>
        </p:spPr>
        <p:txBody>
          <a:bodyPr wrap="square" lIns="0" tIns="0" rIns="0" bIns="0" rtlCol="0" anchor="t"/>
          <a:lstStyle/>
          <a:p>
            <a:pPr marL="0" indent="0" algn="ctr">
              <a:buNone/>
            </a:pPr>
            <a:r>
              <a:rPr lang="en-US" sz="950" dirty="0">
                <a:solidFill>
                  <a:srgbClr val="9FB1CF"/>
                </a:solidFill>
                <a:latin typeface="IBM Plex Mono" pitchFamily="34" charset="0"/>
                <a:ea typeface="IBM Plex Mono" pitchFamily="34" charset="-122"/>
                <a:cs typeface="IBM Plex Mono" pitchFamily="34" charset="-120"/>
              </a:rPr>
              <a:t>scenario propagation</a:t>
            </a: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 recovery scoring</a:t>
            </a:r>
            <a:endParaRPr lang="en-US" sz="950" dirty="0"/>
          </a:p>
        </p:txBody>
      </p:sp>
      <p:sp>
        <p:nvSpPr>
          <p:cNvPr id="16" name="ExasolService box"/>
          <p:cNvSpPr/>
          <p:nvPr/>
        </p:nvSpPr>
        <p:spPr>
          <a:xfrm>
            <a:off x="5532120" y="2423160"/>
            <a:ext cx="1463040" cy="914400"/>
          </a:xfrm>
          <a:prstGeom prst="roundRect">
            <a:avLst>
              <a:gd name="adj" fmla="val 8000"/>
            </a:avLst>
          </a:prstGeom>
          <a:solidFill>
            <a:srgbClr val="16264A">
              <a:alpha val="92000"/>
            </a:srgbClr>
          </a:solidFill>
          <a:ln w="19050">
            <a:solidFill>
              <a:srgbClr val="F5B342"/>
            </a:solidFill>
            <a:prstDash val="solid"/>
          </a:ln>
        </p:spPr>
      </p:sp>
      <p:sp>
        <p:nvSpPr>
          <p:cNvPr id="17" name="ExasolService head"/>
          <p:cNvSpPr txBox="1"/>
          <p:nvPr/>
        </p:nvSpPr>
        <p:spPr>
          <a:xfrm>
            <a:off x="5577840" y="2496312"/>
            <a:ext cx="1371600" cy="292608"/>
          </a:xfrm>
          <a:prstGeom prst="rect">
            <a:avLst/>
          </a:prstGeom>
          <a:noFill/>
          <a:ln/>
        </p:spPr>
        <p:txBody>
          <a:bodyPr wrap="square" lIns="0" tIns="0" rIns="0" bIns="0" rtlCol="0" anchor="t"/>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ExasolService</a:t>
            </a:r>
            <a:endParaRPr lang="en-US" sz="1250" dirty="0"/>
          </a:p>
        </p:txBody>
      </p:sp>
      <p:sp>
        <p:nvSpPr>
          <p:cNvPr id="18" name="ExasolService detail"/>
          <p:cNvSpPr txBox="1"/>
          <p:nvPr/>
        </p:nvSpPr>
        <p:spPr>
          <a:xfrm>
            <a:off x="5605272" y="2807208"/>
            <a:ext cx="1316736" cy="493776"/>
          </a:xfrm>
          <a:prstGeom prst="rect">
            <a:avLst/>
          </a:prstGeom>
          <a:noFill/>
          <a:ln/>
        </p:spPr>
        <p:txBody>
          <a:bodyPr wrap="square" lIns="0" tIns="0" rIns="0" bIns="0" rtlCol="0" anchor="t"/>
          <a:lstStyle/>
          <a:p>
            <a:pPr marL="0" indent="0" algn="ctr">
              <a:buNone/>
            </a:pPr>
            <a:r>
              <a:rPr lang="en-US" sz="950" dirty="0">
                <a:solidFill>
                  <a:srgbClr val="9FB1CF"/>
                </a:solidFill>
                <a:latin typeface="IBM Plex Mono" pitchFamily="34" charset="0"/>
                <a:ea typeface="IBM Plex Mono" pitchFamily="34" charset="-122"/>
                <a:cs typeface="IBM Plex Mono" pitchFamily="34" charset="-120"/>
              </a:rPr>
              <a:t>PyExasol · SQL</a:t>
            </a: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health check</a:t>
            </a:r>
            <a:endParaRPr lang="en-US" sz="950" dirty="0"/>
          </a:p>
        </p:txBody>
      </p:sp>
      <p:sp>
        <p:nvSpPr>
          <p:cNvPr id="19" name="Exasol box"/>
          <p:cNvSpPr/>
          <p:nvPr/>
        </p:nvSpPr>
        <p:spPr>
          <a:xfrm>
            <a:off x="7223760" y="2423160"/>
            <a:ext cx="1463040" cy="914400"/>
          </a:xfrm>
          <a:prstGeom prst="roundRect">
            <a:avLst>
              <a:gd name="adj" fmla="val 8000"/>
            </a:avLst>
          </a:prstGeom>
          <a:solidFill>
            <a:srgbClr val="16264A">
              <a:alpha val="92000"/>
            </a:srgbClr>
          </a:solidFill>
          <a:ln w="19050">
            <a:solidFill>
              <a:srgbClr val="F5B342"/>
            </a:solidFill>
            <a:prstDash val="solid"/>
          </a:ln>
        </p:spPr>
      </p:sp>
      <p:sp>
        <p:nvSpPr>
          <p:cNvPr id="20" name="Exasol head"/>
          <p:cNvSpPr txBox="1"/>
          <p:nvPr/>
        </p:nvSpPr>
        <p:spPr>
          <a:xfrm>
            <a:off x="7269480" y="2496312"/>
            <a:ext cx="1371600" cy="292608"/>
          </a:xfrm>
          <a:prstGeom prst="rect">
            <a:avLst/>
          </a:prstGeom>
          <a:noFill/>
          <a:ln/>
        </p:spPr>
        <p:txBody>
          <a:bodyPr wrap="square" lIns="0" tIns="0" rIns="0" bIns="0" rtlCol="0" anchor="t"/>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Exasol</a:t>
            </a:r>
            <a:endParaRPr lang="en-US" sz="1250" dirty="0"/>
          </a:p>
        </p:txBody>
      </p:sp>
      <p:sp>
        <p:nvSpPr>
          <p:cNvPr id="21" name="Exasol detail"/>
          <p:cNvSpPr txBox="1"/>
          <p:nvPr/>
        </p:nvSpPr>
        <p:spPr>
          <a:xfrm>
            <a:off x="7296912" y="2807208"/>
            <a:ext cx="1316736" cy="493776"/>
          </a:xfrm>
          <a:prstGeom prst="rect">
            <a:avLst/>
          </a:prstGeom>
          <a:noFill/>
          <a:ln/>
        </p:spPr>
        <p:txBody>
          <a:bodyPr wrap="square" lIns="0" tIns="0" rIns="0" bIns="0" rtlCol="0" anchor="t"/>
          <a:lstStyle/>
          <a:p>
            <a:pPr marL="0" indent="0" algn="ctr">
              <a:buNone/>
            </a:pPr>
            <a:r>
              <a:rPr lang="en-US" sz="950" dirty="0">
                <a:solidFill>
                  <a:srgbClr val="9FB1CF"/>
                </a:solidFill>
                <a:latin typeface="IBM Plex Mono" pitchFamily="34" charset="0"/>
                <a:ea typeface="IBM Plex Mono" pitchFamily="34" charset="-122"/>
                <a:cs typeface="IBM Plex Mono" pitchFamily="34" charset="-120"/>
              </a:rPr>
              <a:t>tables + SQL views</a:t>
            </a:r>
            <a:endParaRPr lang="en-US" sz="950" dirty="0"/>
          </a:p>
          <a:p>
            <a:pPr marL="0" indent="0" algn="ctr">
              <a:buNone/>
            </a:pPr>
            <a:r>
              <a:rPr lang="en-US" sz="950" dirty="0">
                <a:solidFill>
                  <a:srgbClr val="9FB1CF"/>
                </a:solidFill>
                <a:latin typeface="IBM Plex Mono" pitchFamily="34" charset="0"/>
                <a:ea typeface="IBM Plex Mono" pitchFamily="34" charset="-122"/>
                <a:cs typeface="IBM Plex Mono" pitchFamily="34" charset="-120"/>
              </a:rPr>
              <a:t>SCENARIO_RUNS</a:t>
            </a:r>
            <a:endParaRPr lang="en-US" sz="950" dirty="0"/>
          </a:p>
        </p:txBody>
      </p:sp>
      <p:sp>
        <p:nvSpPr>
          <p:cNvPr id="22" name="Synthetic box"/>
          <p:cNvSpPr/>
          <p:nvPr/>
        </p:nvSpPr>
        <p:spPr>
          <a:xfrm>
            <a:off x="3840480" y="3611880"/>
            <a:ext cx="1463040" cy="502920"/>
          </a:xfrm>
          <a:prstGeom prst="roundRect">
            <a:avLst>
              <a:gd name="adj" fmla="val 14545"/>
            </a:avLst>
          </a:prstGeom>
          <a:solidFill>
            <a:srgbClr val="16264A">
              <a:alpha val="92000"/>
            </a:srgbClr>
          </a:solidFill>
          <a:ln w="19050">
            <a:solidFill>
              <a:srgbClr val="F5B342"/>
            </a:solidFill>
            <a:prstDash val="dash"/>
          </a:ln>
        </p:spPr>
      </p:sp>
      <p:sp>
        <p:nvSpPr>
          <p:cNvPr id="23" name="Synthetic head"/>
          <p:cNvSpPr txBox="1"/>
          <p:nvPr/>
        </p:nvSpPr>
        <p:spPr>
          <a:xfrm>
            <a:off x="3886200" y="3685032"/>
            <a:ext cx="1371600" cy="292608"/>
          </a:xfrm>
          <a:prstGeom prst="rect">
            <a:avLst/>
          </a:prstGeom>
          <a:noFill/>
          <a:ln/>
        </p:spPr>
        <p:txBody>
          <a:bodyPr wrap="square" lIns="0" tIns="0" rIns="0" bIns="0" rtlCol="0" anchor="t"/>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Synthetic data</a:t>
            </a:r>
            <a:endParaRPr lang="en-US" sz="1250" dirty="0"/>
          </a:p>
        </p:txBody>
      </p:sp>
      <p:sp>
        <p:nvSpPr>
          <p:cNvPr id="24" name="Synthetic detail"/>
          <p:cNvSpPr txBox="1"/>
          <p:nvPr/>
        </p:nvSpPr>
        <p:spPr>
          <a:xfrm>
            <a:off x="3913632" y="3995928"/>
            <a:ext cx="1316736" cy="82296"/>
          </a:xfrm>
          <a:prstGeom prst="rect">
            <a:avLst/>
          </a:prstGeom>
          <a:noFill/>
          <a:ln/>
        </p:spPr>
        <p:txBody>
          <a:bodyPr wrap="square" lIns="0" tIns="0" rIns="0" bIns="0" rtlCol="0" anchor="t"/>
          <a:lstStyle/>
          <a:p>
            <a:pPr marL="0" indent="0" algn="ctr">
              <a:buNone/>
            </a:pPr>
            <a:endParaRPr lang="en-US" sz="950" dirty="0"/>
          </a:p>
        </p:txBody>
      </p:sp>
      <p:sp>
        <p:nvSpPr>
          <p:cNvPr id="25" name="Arrow"/>
          <p:cNvSpPr/>
          <p:nvPr/>
        </p:nvSpPr>
        <p:spPr>
          <a:xfrm>
            <a:off x="1920240" y="2286000"/>
            <a:ext cx="228600" cy="0"/>
          </a:xfrm>
          <a:prstGeom prst="line">
            <a:avLst/>
          </a:prstGeom>
          <a:noFill/>
          <a:ln w="22225">
            <a:solidFill>
              <a:srgbClr val="2DD4BF"/>
            </a:solidFill>
            <a:prstDash val="solid"/>
            <a:tailEnd type="triangle"/>
          </a:ln>
        </p:spPr>
      </p:sp>
      <p:sp>
        <p:nvSpPr>
          <p:cNvPr id="26" name="Arrow"/>
          <p:cNvSpPr/>
          <p:nvPr/>
        </p:nvSpPr>
        <p:spPr>
          <a:xfrm>
            <a:off x="3611880" y="2286000"/>
            <a:ext cx="228600" cy="0"/>
          </a:xfrm>
          <a:prstGeom prst="line">
            <a:avLst/>
          </a:prstGeom>
          <a:noFill/>
          <a:ln w="22225">
            <a:solidFill>
              <a:srgbClr val="2DD4BF"/>
            </a:solidFill>
            <a:prstDash val="solid"/>
            <a:tailEnd type="triangle"/>
          </a:ln>
        </p:spPr>
      </p:sp>
      <p:sp>
        <p:nvSpPr>
          <p:cNvPr id="27" name="Arrow"/>
          <p:cNvSpPr/>
          <p:nvPr/>
        </p:nvSpPr>
        <p:spPr>
          <a:xfrm>
            <a:off x="5303520" y="1737360"/>
            <a:ext cx="228600" cy="0"/>
          </a:xfrm>
          <a:prstGeom prst="line">
            <a:avLst/>
          </a:prstGeom>
          <a:noFill/>
          <a:ln w="22225">
            <a:solidFill>
              <a:srgbClr val="2DD4BF"/>
            </a:solidFill>
            <a:prstDash val="solid"/>
            <a:tailEnd type="triangle"/>
          </a:ln>
        </p:spPr>
      </p:sp>
      <p:sp>
        <p:nvSpPr>
          <p:cNvPr id="28" name="Arrow"/>
          <p:cNvSpPr/>
          <p:nvPr/>
        </p:nvSpPr>
        <p:spPr>
          <a:xfrm>
            <a:off x="5303520" y="2880360"/>
            <a:ext cx="228600" cy="0"/>
          </a:xfrm>
          <a:prstGeom prst="line">
            <a:avLst/>
          </a:prstGeom>
          <a:noFill/>
          <a:ln w="22225">
            <a:solidFill>
              <a:srgbClr val="F5B342"/>
            </a:solidFill>
            <a:prstDash val="solid"/>
            <a:tailEnd type="triangle"/>
          </a:ln>
        </p:spPr>
      </p:sp>
      <p:sp>
        <p:nvSpPr>
          <p:cNvPr id="29" name="Arrow"/>
          <p:cNvSpPr/>
          <p:nvPr/>
        </p:nvSpPr>
        <p:spPr>
          <a:xfrm>
            <a:off x="6995160" y="2880360"/>
            <a:ext cx="228600" cy="0"/>
          </a:xfrm>
          <a:prstGeom prst="line">
            <a:avLst/>
          </a:prstGeom>
          <a:noFill/>
          <a:ln w="22225">
            <a:solidFill>
              <a:srgbClr val="F5B342"/>
            </a:solidFill>
            <a:prstDash val="solid"/>
            <a:tailEnd type="triangle"/>
          </a:ln>
        </p:spPr>
      </p:sp>
      <p:sp>
        <p:nvSpPr>
          <p:cNvPr id="30" name="Arrow"/>
          <p:cNvSpPr/>
          <p:nvPr/>
        </p:nvSpPr>
        <p:spPr>
          <a:xfrm flipV="1">
            <a:off x="4572000" y="3355848"/>
            <a:ext cx="0" cy="256032"/>
          </a:xfrm>
          <a:prstGeom prst="line">
            <a:avLst/>
          </a:prstGeom>
          <a:noFill/>
          <a:ln w="22225">
            <a:solidFill>
              <a:srgbClr val="F5B342"/>
            </a:solidFill>
            <a:prstDash val="dash"/>
            <a:tailEnd type="triangle"/>
          </a:ln>
        </p:spPr>
      </p:sp>
      <p:sp>
        <p:nvSpPr>
          <p:cNvPr id="31" name="Synthetic note"/>
          <p:cNvSpPr txBox="1"/>
          <p:nvPr/>
        </p:nvSpPr>
        <p:spPr>
          <a:xfrm>
            <a:off x="5349240" y="3648456"/>
            <a:ext cx="1737360" cy="228600"/>
          </a:xfrm>
          <a:prstGeom prst="rect">
            <a:avLst/>
          </a:prstGeom>
          <a:noFill/>
          <a:ln/>
        </p:spPr>
        <p:txBody>
          <a:bodyPr wrap="square" lIns="0" tIns="0" rIns="0" bIns="0" rtlCol="0" anchor="ctr"/>
          <a:lstStyle/>
          <a:p>
            <a:pPr marL="0" indent="0">
              <a:buNone/>
            </a:pPr>
            <a:r>
              <a:rPr lang="en-US" sz="950" dirty="0">
                <a:solidFill>
                  <a:srgbClr val="F5B342"/>
                </a:solidFill>
                <a:latin typeface="IBM Plex Mono" pitchFamily="34" charset="0"/>
                <a:ea typeface="IBM Plex Mono" pitchFamily="34" charset="-122"/>
                <a:cs typeface="IBM Plex Mono" pitchFamily="34" charset="-120"/>
              </a:rPr>
              <a:t>explicit click only</a:t>
            </a:r>
            <a:endParaRPr lang="en-US" sz="950" dirty="0"/>
          </a:p>
        </p:txBody>
      </p:sp>
      <p:sp>
        <p:nvSpPr>
          <p:cNvPr id="32" name="Synthetic note 2"/>
          <p:cNvSpPr txBox="1"/>
          <p:nvPr/>
        </p:nvSpPr>
        <p:spPr>
          <a:xfrm>
            <a:off x="5349240" y="3886200"/>
            <a:ext cx="1737360" cy="228600"/>
          </a:xfrm>
          <a:prstGeom prst="rect">
            <a:avLst/>
          </a:prstGeom>
          <a:noFill/>
          <a:ln/>
        </p:spPr>
        <p:txBody>
          <a:bodyPr wrap="square" lIns="0" tIns="0" rIns="0" bIns="0" rtlCol="0" anchor="ctr"/>
          <a:lstStyle/>
          <a:p>
            <a:pPr marL="0" indent="0">
              <a:buNone/>
            </a:pPr>
            <a:r>
              <a:rPr lang="en-US" sz="950" dirty="0">
                <a:solidFill>
                  <a:srgbClr val="F5B342"/>
                </a:solidFill>
                <a:latin typeface="IBM Plex Mono" pitchFamily="34" charset="0"/>
                <a:ea typeface="IBM Plex Mono" pitchFamily="34" charset="-122"/>
                <a:cs typeface="IBM Plex Mono" pitchFamily="34" charset="-120"/>
              </a:rPr>
              <a:t>demo mode</a:t>
            </a:r>
            <a:endParaRPr lang="en-US" sz="950" dirty="0"/>
          </a:p>
        </p:txBody>
      </p:sp>
      <p:sp>
        <p:nvSpPr>
          <p:cNvPr id="33" name="Status strip"/>
          <p:cNvSpPr/>
          <p:nvPr/>
        </p:nvSpPr>
        <p:spPr>
          <a:xfrm>
            <a:off x="457200" y="4297680"/>
            <a:ext cx="8229600" cy="411480"/>
          </a:xfrm>
          <a:prstGeom prst="roundRect">
            <a:avLst>
              <a:gd name="adj" fmla="val 17778"/>
            </a:avLst>
          </a:prstGeom>
          <a:solidFill>
            <a:srgbClr val="111E3A">
              <a:alpha val="92000"/>
            </a:srgbClr>
          </a:solidFill>
          <a:ln w="12700">
            <a:solidFill>
              <a:srgbClr val="27406B"/>
            </a:solidFill>
            <a:prstDash val="solid"/>
          </a:ln>
        </p:spPr>
      </p:sp>
      <p:sp>
        <p:nvSpPr>
          <p:cNvPr id="34" name="Legend teal"/>
          <p:cNvSpPr/>
          <p:nvPr/>
        </p:nvSpPr>
        <p:spPr>
          <a:xfrm>
            <a:off x="640080" y="4434840"/>
            <a:ext cx="128016" cy="128016"/>
          </a:xfrm>
          <a:prstGeom prst="rect">
            <a:avLst/>
          </a:prstGeom>
          <a:solidFill>
            <a:srgbClr val="2DD4BF"/>
          </a:solidFill>
          <a:ln w="12700">
            <a:solidFill>
              <a:srgbClr val="2DD4BF"/>
            </a:solidFill>
            <a:prstDash val="solid"/>
          </a:ln>
        </p:spPr>
      </p:sp>
      <p:sp>
        <p:nvSpPr>
          <p:cNvPr id="35" name="Legend teal text"/>
          <p:cNvSpPr txBox="1"/>
          <p:nvPr/>
        </p:nvSpPr>
        <p:spPr>
          <a:xfrm>
            <a:off x="841248" y="4370832"/>
            <a:ext cx="2560320" cy="256032"/>
          </a:xfrm>
          <a:prstGeom prst="rect">
            <a:avLst/>
          </a:prstGeom>
          <a:noFill/>
          <a:ln/>
        </p:spPr>
        <p:txBody>
          <a:bodyPr wrap="square" lIns="0" tIns="0" rIns="0" bIns="0" rtlCol="0" anchor="ctr"/>
          <a:lstStyle/>
          <a:p>
            <a:pPr marL="0" indent="0">
              <a:buNone/>
            </a:pPr>
            <a:r>
              <a:rPr lang="en-US" sz="1150" dirty="0">
                <a:solidFill>
                  <a:srgbClr val="FFFFFF"/>
                </a:solidFill>
                <a:latin typeface="Space Grotesk" pitchFamily="34" charset="0"/>
                <a:ea typeface="Space Grotesk" pitchFamily="34" charset="-122"/>
                <a:cs typeface="Space Grotesk" pitchFamily="34" charset="-120"/>
              </a:rPr>
              <a:t>Built &amp; unit-tested (95 pass)</a:t>
            </a:r>
            <a:endParaRPr lang="en-US" sz="1150" dirty="0"/>
          </a:p>
        </p:txBody>
      </p:sp>
      <p:sp>
        <p:nvSpPr>
          <p:cNvPr id="36" name="Legend amber"/>
          <p:cNvSpPr/>
          <p:nvPr/>
        </p:nvSpPr>
        <p:spPr>
          <a:xfrm>
            <a:off x="3611880" y="4434840"/>
            <a:ext cx="128016" cy="128016"/>
          </a:xfrm>
          <a:prstGeom prst="rect">
            <a:avLst/>
          </a:prstGeom>
          <a:solidFill>
            <a:srgbClr val="F5B342"/>
          </a:solidFill>
          <a:ln w="12700">
            <a:solidFill>
              <a:srgbClr val="F5B342"/>
            </a:solidFill>
            <a:prstDash val="solid"/>
          </a:ln>
        </p:spPr>
      </p:sp>
      <p:sp>
        <p:nvSpPr>
          <p:cNvPr id="37" name="Legend amber text"/>
          <p:cNvSpPr txBox="1"/>
          <p:nvPr/>
        </p:nvSpPr>
        <p:spPr>
          <a:xfrm>
            <a:off x="3813048" y="4370832"/>
            <a:ext cx="4754880" cy="256032"/>
          </a:xfrm>
          <a:prstGeom prst="rect">
            <a:avLst/>
          </a:prstGeom>
          <a:noFill/>
          <a:ln/>
        </p:spPr>
        <p:txBody>
          <a:bodyPr wrap="square" lIns="0" tIns="0" rIns="0" bIns="0" rtlCol="0" anchor="ctr"/>
          <a:lstStyle/>
          <a:p>
            <a:pPr marL="0" indent="0">
              <a:buNone/>
            </a:pPr>
            <a:r>
              <a:rPr lang="en-US" sz="1150" dirty="0">
                <a:solidFill>
                  <a:srgbClr val="FFFFFF"/>
                </a:solidFill>
                <a:latin typeface="Space Grotesk" pitchFamily="34" charset="0"/>
                <a:ea typeface="Space Grotesk" pitchFamily="34" charset="-122"/>
                <a:cs typeface="Space Grotesk" pitchFamily="34" charset="-120"/>
              </a:rPr>
              <a:t>Coded; live Exasol read/write pending verification</a:t>
            </a:r>
            <a:endParaRPr lang="en-US" sz="1150" dirty="0"/>
          </a:p>
        </p:txBody>
      </p:sp>
      <p:sp>
        <p:nvSpPr>
          <p:cNvPr id="38"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Supplier failure: options compared</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Chennai Plant · motor-control MCU · 21-day outage (planning assumption)</a:t>
            </a:r>
            <a:endParaRPr lang="en-US" sz="1400" dirty="0"/>
          </a:p>
        </p:txBody>
      </p:sp>
      <p:sp>
        <p:nvSpPr>
          <p:cNvPr id="4" name="Illustrative tag box"/>
          <p:cNvSpPr/>
          <p:nvPr/>
        </p:nvSpPr>
        <p:spPr>
          <a:xfrm>
            <a:off x="5212080" y="4434840"/>
            <a:ext cx="3474720" cy="256032"/>
          </a:xfrm>
          <a:prstGeom prst="roundRect">
            <a:avLst>
              <a:gd name="adj" fmla="val 17857"/>
            </a:avLst>
          </a:prstGeom>
          <a:solidFill>
            <a:srgbClr val="F5B342">
              <a:alpha val="15000"/>
            </a:srgbClr>
          </a:solidFill>
          <a:ln w="9525">
            <a:solidFill>
              <a:srgbClr val="F5B342"/>
            </a:solidFill>
            <a:prstDash val="solid"/>
          </a:ln>
        </p:spPr>
      </p:sp>
      <p:graphicFrame>
        <p:nvGraphicFramePr>
          <p:cNvPr id="6" name="Stock projection chart"/>
          <p:cNvGraphicFramePr/>
          <p:nvPr/>
        </p:nvGraphicFramePr>
        <p:xfrm>
          <a:off x="365760" y="1325880"/>
          <a:ext cx="429768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Recovery comparison table"/>
          <p:cNvGraphicFramePr>
            <a:graphicFrameLocks noGrp="1"/>
          </p:cNvGraphicFramePr>
          <p:nvPr>
            <p:extLst>
              <p:ext uri="{D42A27DB-BD31-4B8C-83A1-F6EECF244321}">
                <p14:modId xmlns:p14="http://schemas.microsoft.com/office/powerpoint/2010/main" val="1579011935"/>
              </p:ext>
            </p:extLst>
          </p:nvPr>
        </p:nvGraphicFramePr>
        <p:xfrm>
          <a:off x="4754880" y="1371600"/>
          <a:ext cx="3931920" cy="2212848"/>
        </p:xfrm>
        <a:graphic>
          <a:graphicData uri="http://schemas.openxmlformats.org/drawingml/2006/table">
            <a:tbl>
              <a:tblPr/>
              <a:tblGrid>
                <a:gridCol w="11887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tblGrid>
              <a:tr h="292608">
                <a:tc>
                  <a:txBody>
                    <a:bodyPr/>
                    <a:lstStyle/>
                    <a:p>
                      <a:pPr marL="0" indent="0" algn="l">
                        <a:buNone/>
                      </a:pPr>
                      <a:r>
                        <a:rPr lang="en-US" sz="900" b="1" dirty="0">
                          <a:solidFill>
                            <a:srgbClr val="9FB1CF"/>
                          </a:solidFill>
                          <a:latin typeface="IBM Plex Mono" pitchFamily="34" charset="0"/>
                          <a:ea typeface="IBM Plex Mono" pitchFamily="34" charset="-122"/>
                          <a:cs typeface="IBM Plex Mono" pitchFamily="34" charset="-120"/>
                        </a:rPr>
                        <a:t>OPTION</a:t>
                      </a:r>
                      <a:endParaRPr lang="en-US" sz="9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6264A"/>
                    </a:solidFill>
                  </a:tcPr>
                </a:tc>
                <a:tc>
                  <a:txBody>
                    <a:bodyPr/>
                    <a:lstStyle/>
                    <a:p>
                      <a:pPr marL="0" indent="0" algn="r">
                        <a:buNone/>
                      </a:pPr>
                      <a:r>
                        <a:rPr lang="en-US" sz="850" b="1" dirty="0">
                          <a:solidFill>
                            <a:srgbClr val="9FB1CF"/>
                          </a:solidFill>
                          <a:latin typeface="IBM Plex Mono" pitchFamily="34" charset="0"/>
                          <a:ea typeface="IBM Plex Mono" pitchFamily="34" charset="-122"/>
                          <a:cs typeface="IBM Plex Mono" pitchFamily="34" charset="-120"/>
                        </a:rPr>
                        <a:t>ACTION</a:t>
                      </a:r>
                      <a:endParaRPr lang="en-US" sz="85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6264A"/>
                    </a:solidFill>
                  </a:tcPr>
                </a:tc>
                <a:tc>
                  <a:txBody>
                    <a:bodyPr/>
                    <a:lstStyle/>
                    <a:p>
                      <a:pPr marL="0" indent="0" algn="r">
                        <a:buNone/>
                      </a:pPr>
                      <a:r>
                        <a:rPr lang="en-US" sz="850" b="1" dirty="0">
                          <a:solidFill>
                            <a:srgbClr val="9FB1CF"/>
                          </a:solidFill>
                          <a:latin typeface="IBM Plex Mono" pitchFamily="34" charset="0"/>
                          <a:ea typeface="IBM Plex Mono" pitchFamily="34" charset="-122"/>
                          <a:cs typeface="IBM Plex Mono" pitchFamily="34" charset="-120"/>
                        </a:rPr>
                        <a:t>EST. TOTAL</a:t>
                      </a:r>
                      <a:endParaRPr lang="en-US" sz="85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6264A"/>
                    </a:solidFill>
                  </a:tcPr>
                </a:tc>
                <a:tc>
                  <a:txBody>
                    <a:bodyPr/>
                    <a:lstStyle/>
                    <a:p>
                      <a:pPr marL="0" indent="0" algn="r">
                        <a:buNone/>
                      </a:pPr>
                      <a:r>
                        <a:rPr lang="en-US" sz="850" b="1" dirty="0">
                          <a:solidFill>
                            <a:srgbClr val="9FB1CF"/>
                          </a:solidFill>
                          <a:latin typeface="IBM Plex Mono" pitchFamily="34" charset="0"/>
                          <a:ea typeface="IBM Plex Mono" pitchFamily="34" charset="-122"/>
                          <a:cs typeface="IBM Plex Mono" pitchFamily="34" charset="-120"/>
                        </a:rPr>
                        <a:t>STOCKOUT</a:t>
                      </a:r>
                      <a:endParaRPr lang="en-US" sz="85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6264A"/>
                    </a:solidFill>
                  </a:tcPr>
                </a:tc>
                <a:tc>
                  <a:txBody>
                    <a:bodyPr/>
                    <a:lstStyle/>
                    <a:p>
                      <a:pPr marL="0" indent="0" algn="r">
                        <a:buNone/>
                      </a:pPr>
                      <a:r>
                        <a:rPr lang="en-US" sz="850" b="1" dirty="0">
                          <a:solidFill>
                            <a:srgbClr val="9FB1CF"/>
                          </a:solidFill>
                          <a:latin typeface="IBM Plex Mono" pitchFamily="34" charset="0"/>
                          <a:ea typeface="IBM Plex Mono" pitchFamily="34" charset="-122"/>
                          <a:cs typeface="IBM Plex Mono" pitchFamily="34" charset="-120"/>
                        </a:rPr>
                        <a:t>SCORE</a:t>
                      </a:r>
                      <a:endParaRPr lang="en-US" sz="85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411480">
                <a:tc>
                  <a:txBody>
                    <a:bodyPr/>
                    <a:lstStyle/>
                    <a:p>
                      <a:pPr marL="0" indent="0" algn="l">
                        <a:buNone/>
                      </a:pPr>
                      <a:r>
                        <a:rPr lang="en-US" sz="1100" b="1" dirty="0">
                          <a:solidFill>
                            <a:srgbClr val="F0616D"/>
                          </a:solidFill>
                          <a:latin typeface="Space Grotesk" pitchFamily="34" charset="0"/>
                          <a:ea typeface="Space Grotesk" pitchFamily="34" charset="-122"/>
                          <a:cs typeface="Space Grotesk" pitchFamily="34" charset="-120"/>
                        </a:rPr>
                        <a:t>No action</a:t>
                      </a:r>
                      <a:endParaRPr lang="en-US" sz="1100" dirty="0">
                        <a:latin typeface="Space Grotesk" charset="0"/>
                        <a:ea typeface="Space Grotesk" charset="0"/>
                        <a:cs typeface="Space Grotesk"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₹0</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₹55.43 L</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18.5 d</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13.5</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FFFFFF"/>
                          </a:solidFill>
                          <a:latin typeface="Space Grotesk" pitchFamily="34" charset="0"/>
                          <a:ea typeface="Space Grotesk" pitchFamily="34" charset="-122"/>
                          <a:cs typeface="Space Grotesk" pitchFamily="34" charset="-120"/>
                        </a:rPr>
                        <a:t>Alt. supplier Bengaluru</a:t>
                      </a:r>
                      <a:endParaRPr lang="en-US" sz="1100" dirty="0">
                        <a:latin typeface="Space Grotesk" charset="0"/>
                        <a:ea typeface="Space Grotesk" charset="0"/>
                        <a:cs typeface="Space Grotesk"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₹2.31 L</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₹37.04 L</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11.6 d</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34.1</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extLst>
                  <a:ext uri="{0D108BD9-81ED-4DB2-BD59-A6C34878D82A}">
                    <a16:rowId xmlns:a16="http://schemas.microsoft.com/office/drawing/2014/main" val="10002"/>
                  </a:ext>
                </a:extLst>
              </a:tr>
              <a:tr h="502920">
                <a:tc>
                  <a:txBody>
                    <a:bodyPr/>
                    <a:lstStyle/>
                    <a:p>
                      <a:pPr marL="0" indent="0" algn="l">
                        <a:buNone/>
                      </a:pPr>
                      <a:r>
                        <a:rPr lang="en-US" sz="1100" b="1" dirty="0">
                          <a:solidFill>
                            <a:srgbClr val="2DD4BF"/>
                          </a:solidFill>
                          <a:latin typeface="Space Grotesk" pitchFamily="34" charset="0"/>
                          <a:ea typeface="Space Grotesk" pitchFamily="34" charset="-122"/>
                          <a:cs typeface="Space Grotesk" pitchFamily="34" charset="-120"/>
                        </a:rPr>
                        <a:t>Alt. supplier Taipei ★</a:t>
                      </a:r>
                      <a:endParaRPr lang="en-US" sz="1100" dirty="0">
                        <a:latin typeface="Space Grotesk" charset="0"/>
                        <a:ea typeface="Space Grotesk" charset="0"/>
                        <a:cs typeface="Space Grotesk"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23A45"/>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₹2.80 L</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23A45"/>
                    </a:solidFill>
                  </a:tcPr>
                </a:tc>
                <a:tc>
                  <a:txBody>
                    <a:bodyPr/>
                    <a:lstStyle/>
                    <a:p>
                      <a:pPr marL="0" indent="0" algn="r">
                        <a:buNone/>
                      </a:pPr>
                      <a:r>
                        <a:rPr lang="en-US" sz="1000" b="1" dirty="0">
                          <a:solidFill>
                            <a:srgbClr val="2DD4BF"/>
                          </a:solidFill>
                          <a:latin typeface="IBM Plex Mono" pitchFamily="34" charset="0"/>
                          <a:ea typeface="IBM Plex Mono" pitchFamily="34" charset="-122"/>
                          <a:cs typeface="IBM Plex Mono" pitchFamily="34" charset="-120"/>
                        </a:rPr>
                        <a:t>₹2.80 L</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23A45"/>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0.0 d</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23A45"/>
                    </a:solidFill>
                  </a:tcPr>
                </a:tc>
                <a:tc>
                  <a:txBody>
                    <a:bodyPr/>
                    <a:lstStyle/>
                    <a:p>
                      <a:pPr marL="0" indent="0" algn="r">
                        <a:buNone/>
                      </a:pPr>
                      <a:r>
                        <a:rPr lang="en-US" sz="1000" b="1" dirty="0">
                          <a:solidFill>
                            <a:srgbClr val="2DD4BF"/>
                          </a:solidFill>
                          <a:latin typeface="IBM Plex Mono" pitchFamily="34" charset="0"/>
                          <a:ea typeface="IBM Plex Mono" pitchFamily="34" charset="-122"/>
                          <a:cs typeface="IBM Plex Mono" pitchFamily="34" charset="-120"/>
                        </a:rPr>
                        <a:t>95.1</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23A45"/>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FFFFFF"/>
                          </a:solidFill>
                          <a:latin typeface="Space Grotesk" pitchFamily="34" charset="0"/>
                          <a:ea typeface="Space Grotesk" pitchFamily="34" charset="-122"/>
                          <a:cs typeface="Space Grotesk" pitchFamily="34" charset="-120"/>
                        </a:rPr>
                        <a:t>Transfer from Ahmedabad</a:t>
                      </a:r>
                      <a:endParaRPr lang="en-US" sz="1100" dirty="0">
                        <a:latin typeface="Space Grotesk" charset="0"/>
                        <a:ea typeface="Space Grotesk" charset="0"/>
                        <a:cs typeface="Space Grotesk"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₹0.34 L</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₹30.70 L</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10.2 d</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tc>
                  <a:txBody>
                    <a:bodyPr/>
                    <a:lstStyle/>
                    <a:p>
                      <a:pPr marL="0" indent="0" algn="r">
                        <a:buNone/>
                      </a:pPr>
                      <a:r>
                        <a:rPr lang="en-US" sz="1000" dirty="0">
                          <a:solidFill>
                            <a:srgbClr val="FFFFFF"/>
                          </a:solidFill>
                          <a:latin typeface="IBM Plex Mono" pitchFamily="34" charset="0"/>
                          <a:ea typeface="IBM Plex Mono" pitchFamily="34" charset="-122"/>
                          <a:cs typeface="IBM Plex Mono" pitchFamily="34" charset="-120"/>
                        </a:rPr>
                        <a:t>29.9</a:t>
                      </a:r>
                      <a:endParaRPr lang="en-US" sz="1000" dirty="0">
                        <a:latin typeface="IBM Plex Mono" charset="0"/>
                        <a:ea typeface="IBM Plex Mono" charset="0"/>
                        <a:cs typeface="IBM Plex Mono" charset="0"/>
                      </a:endParaRPr>
                    </a:p>
                  </a:txBody>
                  <a:tcPr marL="45720" marR="45720" marT="27432" marB="27432" anchor="ctr">
                    <a:lnL w="6350" cap="flat" cmpd="sng" algn="ctr">
                      <a:solidFill>
                        <a:srgbClr val="27406B"/>
                      </a:solidFill>
                      <a:prstDash val="solid"/>
                      <a:round/>
                      <a:headEnd type="none" w="med" len="med"/>
                      <a:tailEnd type="none" w="med" len="med"/>
                    </a:lnL>
                    <a:lnR w="6350" cap="flat" cmpd="sng" algn="ctr">
                      <a:solidFill>
                        <a:srgbClr val="27406B"/>
                      </a:solidFill>
                      <a:prstDash val="solid"/>
                      <a:round/>
                      <a:headEnd type="none" w="med" len="med"/>
                      <a:tailEnd type="none" w="med" len="med"/>
                    </a:lnR>
                    <a:lnT w="6350" cap="flat" cmpd="sng" algn="ctr">
                      <a:solidFill>
                        <a:srgbClr val="27406B"/>
                      </a:solidFill>
                      <a:prstDash val="solid"/>
                      <a:round/>
                      <a:headEnd type="none" w="med" len="med"/>
                      <a:tailEnd type="none" w="med" len="med"/>
                    </a:lnT>
                    <a:lnB w="6350" cap="flat" cmpd="sng" algn="ctr">
                      <a:solidFill>
                        <a:srgbClr val="27406B"/>
                      </a:solidFill>
                      <a:prstDash val="solid"/>
                      <a:round/>
                      <a:headEnd type="none" w="med" len="med"/>
                      <a:tailEnd type="none" w="med" len="med"/>
                    </a:lnB>
                    <a:solidFill>
                      <a:srgbClr val="111E3A"/>
                    </a:solidFill>
                  </a:tcPr>
                </a:tc>
                <a:extLst>
                  <a:ext uri="{0D108BD9-81ED-4DB2-BD59-A6C34878D82A}">
                    <a16:rowId xmlns:a16="http://schemas.microsoft.com/office/drawing/2014/main" val="10004"/>
                  </a:ext>
                </a:extLst>
              </a:tr>
            </a:tbl>
          </a:graphicData>
        </a:graphic>
      </p:graphicFrame>
      <p:sp>
        <p:nvSpPr>
          <p:cNvPr id="7" name="Table note"/>
          <p:cNvSpPr txBox="1"/>
          <p:nvPr/>
        </p:nvSpPr>
        <p:spPr>
          <a:xfrm>
            <a:off x="4754880" y="3749040"/>
            <a:ext cx="3931920" cy="640080"/>
          </a:xfrm>
          <a:prstGeom prst="rect">
            <a:avLst/>
          </a:prstGeom>
          <a:noFill/>
          <a:ln/>
        </p:spPr>
        <p:txBody>
          <a:bodyPr wrap="square" lIns="0" tIns="0" rIns="0" bIns="0" rtlCol="0" anchor="t"/>
          <a:lstStyle/>
          <a:p>
            <a:pPr marL="0" indent="0">
              <a:buNone/>
            </a:pPr>
            <a:r>
              <a:rPr lang="en-US" sz="1050" dirty="0">
                <a:solidFill>
                  <a:srgbClr val="9FB1CF"/>
                </a:solidFill>
                <a:latin typeface="Space Grotesk" pitchFamily="34" charset="0"/>
                <a:ea typeface="Space Grotesk" pitchFamily="34" charset="-122"/>
                <a:cs typeface="Space Grotesk" pitchFamily="34" charset="-120"/>
              </a:rPr>
              <a:t>★ = recommended. “Est. total” = action cost + estimated production loss; action cost counts premiums and fees only. Estimates from stated assumptions — not savings.</a:t>
            </a:r>
            <a:endParaRPr lang="en-US" sz="1050" dirty="0"/>
          </a:p>
        </p:txBody>
      </p:sp>
      <p:sp>
        <p:nvSpPr>
          <p:cNvPr id="9" name="Source"/>
          <p:cNvSpPr txBox="1"/>
          <p:nvPr/>
        </p:nvSpPr>
        <p:spPr>
          <a:xfrm>
            <a:off x="457200" y="4434840"/>
            <a:ext cx="4572000" cy="228600"/>
          </a:xfrm>
          <a:prstGeom prst="rect">
            <a:avLst/>
          </a:prstGeom>
          <a:noFill/>
          <a:ln/>
        </p:spPr>
        <p:txBody>
          <a:bodyPr wrap="square" lIns="0" tIns="0" rIns="0" bIns="0" rtlCol="0" anchor="ctr"/>
          <a:lstStyle/>
          <a:p>
            <a:pPr marL="0" indent="0">
              <a:buNone/>
            </a:pPr>
            <a:r>
              <a:rPr lang="en-US" sz="900" dirty="0">
                <a:solidFill>
                  <a:srgbClr val="6F83A6"/>
                </a:solidFill>
                <a:latin typeface="IBM Plex Mono" pitchFamily="34" charset="0"/>
                <a:ea typeface="IBM Plex Mono" pitchFamily="34" charset="-122"/>
                <a:cs typeface="IBM Plex Mono" pitchFamily="34" charset="-120"/>
              </a:rPr>
              <a:t>Source: app output (demo mode). Costs in ₹ lakh (L).</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What it gives a planner</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Practical value of the implemented approach — no unverified performance claims</a:t>
            </a:r>
            <a:endParaRPr lang="en-US" sz="1400" dirty="0"/>
          </a:p>
        </p:txBody>
      </p:sp>
      <p:sp>
        <p:nvSpPr>
          <p:cNvPr id="4" name="Value card"/>
          <p:cNvSpPr/>
          <p:nvPr/>
        </p:nvSpPr>
        <p:spPr>
          <a:xfrm>
            <a:off x="457200" y="1325880"/>
            <a:ext cx="2651760" cy="2057400"/>
          </a:xfrm>
          <a:prstGeom prst="roundRect">
            <a:avLst>
              <a:gd name="adj" fmla="val 3556"/>
            </a:avLst>
          </a:prstGeom>
          <a:solidFill>
            <a:srgbClr val="111E3A">
              <a:alpha val="92000"/>
            </a:srgbClr>
          </a:solidFill>
          <a:ln w="12700">
            <a:solidFill>
              <a:srgbClr val="27406B"/>
            </a:solidFill>
            <a:prstDash val="solid"/>
          </a:ln>
        </p:spPr>
      </p:sp>
      <p:sp>
        <p:nvSpPr>
          <p:cNvPr id="5" name="Value marker"/>
          <p:cNvSpPr/>
          <p:nvPr/>
        </p:nvSpPr>
        <p:spPr>
          <a:xfrm>
            <a:off x="640080" y="1508760"/>
            <a:ext cx="365760" cy="54864"/>
          </a:xfrm>
          <a:prstGeom prst="rect">
            <a:avLst/>
          </a:prstGeom>
          <a:solidFill>
            <a:srgbClr val="2DD4BF"/>
          </a:solidFill>
          <a:ln w="12700">
            <a:solidFill>
              <a:srgbClr val="2DD4BF"/>
            </a:solidFill>
            <a:prstDash val="solid"/>
          </a:ln>
        </p:spPr>
      </p:sp>
      <p:sp>
        <p:nvSpPr>
          <p:cNvPr id="6" name="Value name"/>
          <p:cNvSpPr txBox="1"/>
          <p:nvPr/>
        </p:nvSpPr>
        <p:spPr>
          <a:xfrm>
            <a:off x="640080" y="1691640"/>
            <a:ext cx="2331720" cy="274320"/>
          </a:xfrm>
          <a:prstGeom prst="rect">
            <a:avLst/>
          </a:prstGeom>
          <a:noFill/>
          <a:ln/>
        </p:spPr>
        <p:txBody>
          <a:bodyPr wrap="square" lIns="0" tIns="0" rIns="0" bIns="0" rtlCol="0" anchor="ctr"/>
          <a:lstStyle/>
          <a:p>
            <a:pPr marL="0" indent="0">
              <a:buNone/>
            </a:pPr>
            <a:r>
              <a:rPr lang="en-US" sz="1200" b="1" kern="0" spc="100" dirty="0">
                <a:solidFill>
                  <a:srgbClr val="2DD4BF"/>
                </a:solidFill>
                <a:latin typeface="IBM Plex Mono" pitchFamily="34" charset="0"/>
                <a:ea typeface="IBM Plex Mono" pitchFamily="34" charset="-122"/>
                <a:cs typeface="IBM Plex Mono" pitchFamily="34" charset="-120"/>
              </a:rPr>
              <a:t>EARLIER VISIBILITY</a:t>
            </a:r>
            <a:endParaRPr lang="en-US" sz="1200" dirty="0"/>
          </a:p>
        </p:txBody>
      </p:sp>
      <p:sp>
        <p:nvSpPr>
          <p:cNvPr id="7" name="Value text"/>
          <p:cNvSpPr txBox="1"/>
          <p:nvPr/>
        </p:nvSpPr>
        <p:spPr>
          <a:xfrm>
            <a:off x="640080" y="2057400"/>
            <a:ext cx="2331720" cy="1234440"/>
          </a:xfrm>
          <a:prstGeom prst="rect">
            <a:avLst/>
          </a:prstGeom>
          <a:noFill/>
          <a:ln/>
        </p:spPr>
        <p:txBody>
          <a:bodyPr wrap="square" lIns="0" tIns="0" rIns="0" bIns="0" rtlCol="0" anchor="t"/>
          <a:lstStyle/>
          <a:p>
            <a:pPr marL="0" indent="0">
              <a:buNone/>
            </a:pPr>
            <a:r>
              <a:rPr lang="en-US" sz="1350" dirty="0">
                <a:solidFill>
                  <a:srgbClr val="FFFFFF"/>
                </a:solidFill>
                <a:latin typeface="Space Grotesk" pitchFamily="34" charset="0"/>
                <a:ea typeface="Space Grotesk" pitchFamily="34" charset="-122"/>
                <a:cs typeface="Space Grotesk" pitchFamily="34" charset="-120"/>
              </a:rPr>
              <a:t>Day-by-day stock projection over a 45-day window shows where and when a shortage starts.</a:t>
            </a:r>
            <a:endParaRPr lang="en-US" sz="1350" dirty="0"/>
          </a:p>
        </p:txBody>
      </p:sp>
      <p:sp>
        <p:nvSpPr>
          <p:cNvPr id="8" name="Value card"/>
          <p:cNvSpPr/>
          <p:nvPr/>
        </p:nvSpPr>
        <p:spPr>
          <a:xfrm>
            <a:off x="3291840" y="1325880"/>
            <a:ext cx="2651760" cy="2057400"/>
          </a:xfrm>
          <a:prstGeom prst="roundRect">
            <a:avLst>
              <a:gd name="adj" fmla="val 3556"/>
            </a:avLst>
          </a:prstGeom>
          <a:solidFill>
            <a:srgbClr val="111E3A">
              <a:alpha val="92000"/>
            </a:srgbClr>
          </a:solidFill>
          <a:ln w="12700">
            <a:solidFill>
              <a:srgbClr val="27406B"/>
            </a:solidFill>
            <a:prstDash val="solid"/>
          </a:ln>
        </p:spPr>
      </p:sp>
      <p:sp>
        <p:nvSpPr>
          <p:cNvPr id="9" name="Value marker"/>
          <p:cNvSpPr/>
          <p:nvPr/>
        </p:nvSpPr>
        <p:spPr>
          <a:xfrm>
            <a:off x="3474720" y="1508760"/>
            <a:ext cx="365760" cy="54864"/>
          </a:xfrm>
          <a:prstGeom prst="rect">
            <a:avLst/>
          </a:prstGeom>
          <a:solidFill>
            <a:srgbClr val="2DD4BF"/>
          </a:solidFill>
          <a:ln w="12700">
            <a:solidFill>
              <a:srgbClr val="2DD4BF"/>
            </a:solidFill>
            <a:prstDash val="solid"/>
          </a:ln>
        </p:spPr>
      </p:sp>
      <p:sp>
        <p:nvSpPr>
          <p:cNvPr id="10" name="Value name"/>
          <p:cNvSpPr txBox="1"/>
          <p:nvPr/>
        </p:nvSpPr>
        <p:spPr>
          <a:xfrm>
            <a:off x="3474720" y="1691640"/>
            <a:ext cx="2331720" cy="274320"/>
          </a:xfrm>
          <a:prstGeom prst="rect">
            <a:avLst/>
          </a:prstGeom>
          <a:noFill/>
          <a:ln/>
        </p:spPr>
        <p:txBody>
          <a:bodyPr wrap="square" lIns="0" tIns="0" rIns="0" bIns="0" rtlCol="0" anchor="ctr"/>
          <a:lstStyle/>
          <a:p>
            <a:pPr marL="0" indent="0">
              <a:buNone/>
            </a:pPr>
            <a:r>
              <a:rPr lang="en-US" sz="1200" b="1" kern="0" spc="100" dirty="0">
                <a:solidFill>
                  <a:srgbClr val="2DD4BF"/>
                </a:solidFill>
                <a:latin typeface="IBM Plex Mono" pitchFamily="34" charset="0"/>
                <a:ea typeface="IBM Plex Mono" pitchFamily="34" charset="-122"/>
                <a:cs typeface="IBM Plex Mono" pitchFamily="34" charset="-120"/>
              </a:rPr>
              <a:t>COMPARED OPTIONS</a:t>
            </a:r>
            <a:endParaRPr lang="en-US" sz="1200" dirty="0"/>
          </a:p>
        </p:txBody>
      </p:sp>
      <p:sp>
        <p:nvSpPr>
          <p:cNvPr id="11" name="Value text"/>
          <p:cNvSpPr txBox="1"/>
          <p:nvPr/>
        </p:nvSpPr>
        <p:spPr>
          <a:xfrm>
            <a:off x="3474720" y="2057400"/>
            <a:ext cx="2331720" cy="1234440"/>
          </a:xfrm>
          <a:prstGeom prst="rect">
            <a:avLst/>
          </a:prstGeom>
          <a:noFill/>
          <a:ln/>
        </p:spPr>
        <p:txBody>
          <a:bodyPr wrap="square" lIns="0" tIns="0" rIns="0" bIns="0" rtlCol="0" anchor="t"/>
          <a:lstStyle/>
          <a:p>
            <a:pPr marL="0" indent="0">
              <a:buNone/>
            </a:pPr>
            <a:r>
              <a:rPr lang="en-US" sz="1350" dirty="0">
                <a:solidFill>
                  <a:srgbClr val="FFFFFF"/>
                </a:solidFill>
                <a:latin typeface="Space Grotesk" pitchFamily="34" charset="0"/>
                <a:ea typeface="Space Grotesk" pitchFamily="34" charset="-122"/>
                <a:cs typeface="Space Grotesk" pitchFamily="34" charset="-120"/>
              </a:rPr>
              <a:t>Alternatives sit next to a no-action baseline, scored on cost, time, loss, unmet demand and risk.</a:t>
            </a:r>
            <a:endParaRPr lang="en-US" sz="1350" dirty="0"/>
          </a:p>
        </p:txBody>
      </p:sp>
      <p:sp>
        <p:nvSpPr>
          <p:cNvPr id="12" name="Value card"/>
          <p:cNvSpPr/>
          <p:nvPr/>
        </p:nvSpPr>
        <p:spPr>
          <a:xfrm>
            <a:off x="6126480" y="1325880"/>
            <a:ext cx="2651760" cy="2057400"/>
          </a:xfrm>
          <a:prstGeom prst="roundRect">
            <a:avLst>
              <a:gd name="adj" fmla="val 3556"/>
            </a:avLst>
          </a:prstGeom>
          <a:solidFill>
            <a:srgbClr val="111E3A">
              <a:alpha val="92000"/>
            </a:srgbClr>
          </a:solidFill>
          <a:ln w="12700">
            <a:solidFill>
              <a:srgbClr val="27406B"/>
            </a:solidFill>
            <a:prstDash val="solid"/>
          </a:ln>
        </p:spPr>
      </p:sp>
      <p:sp>
        <p:nvSpPr>
          <p:cNvPr id="13" name="Value marker"/>
          <p:cNvSpPr/>
          <p:nvPr/>
        </p:nvSpPr>
        <p:spPr>
          <a:xfrm>
            <a:off x="6309360" y="1508760"/>
            <a:ext cx="365760" cy="54864"/>
          </a:xfrm>
          <a:prstGeom prst="rect">
            <a:avLst/>
          </a:prstGeom>
          <a:solidFill>
            <a:srgbClr val="2DD4BF"/>
          </a:solidFill>
          <a:ln w="12700">
            <a:solidFill>
              <a:srgbClr val="2DD4BF"/>
            </a:solidFill>
            <a:prstDash val="solid"/>
          </a:ln>
        </p:spPr>
      </p:sp>
      <p:sp>
        <p:nvSpPr>
          <p:cNvPr id="14" name="Value name"/>
          <p:cNvSpPr txBox="1"/>
          <p:nvPr/>
        </p:nvSpPr>
        <p:spPr>
          <a:xfrm>
            <a:off x="6309360" y="1691640"/>
            <a:ext cx="2331720" cy="274320"/>
          </a:xfrm>
          <a:prstGeom prst="rect">
            <a:avLst/>
          </a:prstGeom>
          <a:noFill/>
          <a:ln/>
        </p:spPr>
        <p:txBody>
          <a:bodyPr wrap="square" lIns="0" tIns="0" rIns="0" bIns="0" rtlCol="0" anchor="ctr"/>
          <a:lstStyle/>
          <a:p>
            <a:pPr marL="0" indent="0">
              <a:buNone/>
            </a:pPr>
            <a:r>
              <a:rPr lang="en-US" sz="1200" b="1" kern="0" spc="100" dirty="0">
                <a:solidFill>
                  <a:srgbClr val="2DD4BF"/>
                </a:solidFill>
                <a:latin typeface="IBM Plex Mono" pitchFamily="34" charset="0"/>
                <a:ea typeface="IBM Plex Mono" pitchFamily="34" charset="-122"/>
                <a:cs typeface="IBM Plex Mono" pitchFamily="34" charset="-120"/>
              </a:rPr>
              <a:t>DECISION TRAIL</a:t>
            </a:r>
            <a:endParaRPr lang="en-US" sz="1200" dirty="0"/>
          </a:p>
        </p:txBody>
      </p:sp>
      <p:sp>
        <p:nvSpPr>
          <p:cNvPr id="15" name="Value text"/>
          <p:cNvSpPr txBox="1"/>
          <p:nvPr/>
        </p:nvSpPr>
        <p:spPr>
          <a:xfrm>
            <a:off x="6309360" y="2057400"/>
            <a:ext cx="2331720" cy="1234440"/>
          </a:xfrm>
          <a:prstGeom prst="rect">
            <a:avLst/>
          </a:prstGeom>
          <a:noFill/>
          <a:ln/>
        </p:spPr>
        <p:txBody>
          <a:bodyPr wrap="square" lIns="0" tIns="0" rIns="0" bIns="0" rtlCol="0" anchor="t"/>
          <a:lstStyle/>
          <a:p>
            <a:pPr marL="0" indent="0">
              <a:buNone/>
            </a:pPr>
            <a:r>
              <a:rPr lang="en-US" sz="1350" dirty="0">
                <a:solidFill>
                  <a:srgbClr val="FFFFFF"/>
                </a:solidFill>
                <a:latin typeface="Space Grotesk" pitchFamily="34" charset="0"/>
                <a:ea typeface="Space Grotesk" pitchFamily="34" charset="-122"/>
                <a:cs typeface="Space Grotesk" pitchFamily="34" charset="-120"/>
              </a:rPr>
              <a:t>Approval is flagged by policy; approve / reject / defer plus a note is stored with the run.</a:t>
            </a:r>
            <a:endParaRPr lang="en-US" sz="1350" dirty="0"/>
          </a:p>
        </p:txBody>
      </p:sp>
      <p:sp>
        <p:nvSpPr>
          <p:cNvPr id="16" name="Differentiators label"/>
          <p:cNvSpPr txBox="1"/>
          <p:nvPr/>
        </p:nvSpPr>
        <p:spPr>
          <a:xfrm>
            <a:off x="457200" y="3611880"/>
            <a:ext cx="3657600" cy="274320"/>
          </a:xfrm>
          <a:prstGeom prst="rect">
            <a:avLst/>
          </a:prstGeom>
          <a:noFill/>
          <a:ln/>
        </p:spPr>
        <p:txBody>
          <a:bodyPr wrap="square" lIns="0" tIns="0" rIns="0" bIns="0" rtlCol="0" anchor="ctr"/>
          <a:lstStyle/>
          <a:p>
            <a:pPr marL="0" indent="0">
              <a:buNone/>
            </a:pPr>
            <a:r>
              <a:rPr lang="en-US" sz="1100" kern="0" spc="100" dirty="0">
                <a:solidFill>
                  <a:srgbClr val="9FB1CF"/>
                </a:solidFill>
                <a:latin typeface="IBM Plex Mono" pitchFamily="34" charset="0"/>
                <a:ea typeface="IBM Plex Mono" pitchFamily="34" charset="-122"/>
                <a:cs typeface="IBM Plex Mono" pitchFamily="34" charset="-120"/>
              </a:rPr>
              <a:t>WHAT MAKES IT CREDIBLE</a:t>
            </a:r>
            <a:endParaRPr lang="en-US" sz="1100" dirty="0"/>
          </a:p>
        </p:txBody>
      </p:sp>
      <p:sp>
        <p:nvSpPr>
          <p:cNvPr id="17" name="Differentiator box"/>
          <p:cNvSpPr/>
          <p:nvPr/>
        </p:nvSpPr>
        <p:spPr>
          <a:xfrm>
            <a:off x="457200" y="3931920"/>
            <a:ext cx="1783080" cy="256032"/>
          </a:xfrm>
          <a:prstGeom prst="roundRect">
            <a:avLst>
              <a:gd name="adj" fmla="val 17857"/>
            </a:avLst>
          </a:prstGeom>
          <a:solidFill>
            <a:srgbClr val="2DD4BF">
              <a:alpha val="15000"/>
            </a:srgbClr>
          </a:solidFill>
          <a:ln w="9525">
            <a:solidFill>
              <a:srgbClr val="2DD4BF"/>
            </a:solidFill>
            <a:prstDash val="solid"/>
          </a:ln>
        </p:spPr>
      </p:sp>
      <p:sp>
        <p:nvSpPr>
          <p:cNvPr id="18" name="Differentiator text"/>
          <p:cNvSpPr txBox="1"/>
          <p:nvPr/>
        </p:nvSpPr>
        <p:spPr>
          <a:xfrm>
            <a:off x="457200" y="3931920"/>
            <a:ext cx="1783080" cy="256032"/>
          </a:xfrm>
          <a:prstGeom prst="rect">
            <a:avLst/>
          </a:prstGeom>
          <a:noFill/>
          <a:ln/>
        </p:spPr>
        <p:txBody>
          <a:bodyPr wrap="square" lIns="0" tIns="0" rIns="0" bIns="0" rtlCol="0" anchor="ctr"/>
          <a:lstStyle/>
          <a:p>
            <a:pPr marL="0" indent="0" algn="ctr">
              <a:buNone/>
            </a:pPr>
            <a:r>
              <a:rPr lang="en-US" sz="1000" b="1" kern="0" spc="50" dirty="0">
                <a:solidFill>
                  <a:srgbClr val="2DD4BF"/>
                </a:solidFill>
                <a:latin typeface="IBM Plex Mono" pitchFamily="34" charset="0"/>
                <a:ea typeface="IBM Plex Mono" pitchFamily="34" charset="-122"/>
                <a:cs typeface="IBM Plex Mono" pitchFamily="34" charset="-120"/>
              </a:rPr>
              <a:t>FORMULAS ON SCREEN</a:t>
            </a:r>
            <a:endParaRPr lang="en-US" sz="1000" dirty="0"/>
          </a:p>
        </p:txBody>
      </p:sp>
      <p:sp>
        <p:nvSpPr>
          <p:cNvPr id="19" name="Differentiator box"/>
          <p:cNvSpPr/>
          <p:nvPr/>
        </p:nvSpPr>
        <p:spPr>
          <a:xfrm>
            <a:off x="2331720" y="3931920"/>
            <a:ext cx="2240280" cy="256032"/>
          </a:xfrm>
          <a:prstGeom prst="roundRect">
            <a:avLst>
              <a:gd name="adj" fmla="val 17857"/>
            </a:avLst>
          </a:prstGeom>
          <a:solidFill>
            <a:srgbClr val="22D3EE">
              <a:alpha val="15000"/>
            </a:srgbClr>
          </a:solidFill>
          <a:ln w="9525">
            <a:solidFill>
              <a:srgbClr val="22D3EE"/>
            </a:solidFill>
            <a:prstDash val="solid"/>
          </a:ln>
        </p:spPr>
      </p:sp>
      <p:sp>
        <p:nvSpPr>
          <p:cNvPr id="20" name="Differentiator text"/>
          <p:cNvSpPr txBox="1"/>
          <p:nvPr/>
        </p:nvSpPr>
        <p:spPr>
          <a:xfrm>
            <a:off x="2331720" y="3931920"/>
            <a:ext cx="2240280" cy="256032"/>
          </a:xfrm>
          <a:prstGeom prst="rect">
            <a:avLst/>
          </a:prstGeom>
          <a:noFill/>
          <a:ln/>
        </p:spPr>
        <p:txBody>
          <a:bodyPr wrap="square" lIns="0" tIns="0" rIns="0" bIns="0" rtlCol="0" anchor="ctr"/>
          <a:lstStyle/>
          <a:p>
            <a:pPr marL="0" indent="0" algn="ctr">
              <a:buNone/>
            </a:pPr>
            <a:r>
              <a:rPr lang="en-US" sz="1000" b="1" kern="0" spc="50" dirty="0">
                <a:solidFill>
                  <a:srgbClr val="22D3EE"/>
                </a:solidFill>
                <a:latin typeface="IBM Plex Mono" pitchFamily="34" charset="0"/>
                <a:ea typeface="IBM Plex Mono" pitchFamily="34" charset="-122"/>
                <a:cs typeface="IBM Plex Mono" pitchFamily="34" charset="-120"/>
              </a:rPr>
              <a:t>NO SILENT DEMO FALLBACK</a:t>
            </a:r>
            <a:endParaRPr lang="en-US" sz="1000" dirty="0"/>
          </a:p>
        </p:txBody>
      </p:sp>
      <p:sp>
        <p:nvSpPr>
          <p:cNvPr id="21" name="Differentiator box"/>
          <p:cNvSpPr/>
          <p:nvPr/>
        </p:nvSpPr>
        <p:spPr>
          <a:xfrm>
            <a:off x="4663440" y="3931920"/>
            <a:ext cx="2194560" cy="256032"/>
          </a:xfrm>
          <a:prstGeom prst="roundRect">
            <a:avLst>
              <a:gd name="adj" fmla="val 17857"/>
            </a:avLst>
          </a:prstGeom>
          <a:solidFill>
            <a:srgbClr val="F5B342">
              <a:alpha val="15000"/>
            </a:srgbClr>
          </a:solidFill>
          <a:ln w="9525">
            <a:solidFill>
              <a:srgbClr val="F5B342"/>
            </a:solidFill>
            <a:prstDash val="solid"/>
          </a:ln>
        </p:spPr>
      </p:sp>
      <p:sp>
        <p:nvSpPr>
          <p:cNvPr id="22" name="Differentiator text"/>
          <p:cNvSpPr txBox="1"/>
          <p:nvPr/>
        </p:nvSpPr>
        <p:spPr>
          <a:xfrm>
            <a:off x="4663440" y="3931920"/>
            <a:ext cx="2194560" cy="256032"/>
          </a:xfrm>
          <a:prstGeom prst="rect">
            <a:avLst/>
          </a:prstGeom>
          <a:noFill/>
          <a:ln/>
        </p:spPr>
        <p:txBody>
          <a:bodyPr wrap="square" lIns="0" tIns="0" rIns="0" bIns="0" rtlCol="0" anchor="ctr"/>
          <a:lstStyle/>
          <a:p>
            <a:pPr marL="0" indent="0" algn="ctr">
              <a:buNone/>
            </a:pPr>
            <a:r>
              <a:rPr lang="en-US" sz="1000" b="1" kern="0" spc="50" dirty="0">
                <a:solidFill>
                  <a:srgbClr val="F5B342"/>
                </a:solidFill>
                <a:latin typeface="IBM Plex Mono" pitchFamily="34" charset="0"/>
                <a:ea typeface="IBM Plex Mono" pitchFamily="34" charset="-122"/>
                <a:cs typeface="IBM Plex Mono" pitchFamily="34" charset="-120"/>
              </a:rPr>
              <a:t>SOURCE ALWAYS LABELLED</a:t>
            </a:r>
            <a:endParaRPr lang="en-US" sz="1000" dirty="0"/>
          </a:p>
        </p:txBody>
      </p:sp>
      <p:sp>
        <p:nvSpPr>
          <p:cNvPr id="23" name="Differentiator box"/>
          <p:cNvSpPr/>
          <p:nvPr/>
        </p:nvSpPr>
        <p:spPr>
          <a:xfrm>
            <a:off x="6949440" y="3931920"/>
            <a:ext cx="1691640" cy="256032"/>
          </a:xfrm>
          <a:prstGeom prst="roundRect">
            <a:avLst>
              <a:gd name="adj" fmla="val 17857"/>
            </a:avLst>
          </a:prstGeom>
          <a:solidFill>
            <a:srgbClr val="2DD4BF">
              <a:alpha val="15000"/>
            </a:srgbClr>
          </a:solidFill>
          <a:ln w="9525">
            <a:solidFill>
              <a:srgbClr val="2DD4BF"/>
            </a:solidFill>
            <a:prstDash val="solid"/>
          </a:ln>
        </p:spPr>
      </p:sp>
      <p:sp>
        <p:nvSpPr>
          <p:cNvPr id="24" name="Differentiator text"/>
          <p:cNvSpPr txBox="1"/>
          <p:nvPr/>
        </p:nvSpPr>
        <p:spPr>
          <a:xfrm>
            <a:off x="6949440" y="3931920"/>
            <a:ext cx="1691640" cy="256032"/>
          </a:xfrm>
          <a:prstGeom prst="rect">
            <a:avLst/>
          </a:prstGeom>
          <a:noFill/>
          <a:ln/>
        </p:spPr>
        <p:txBody>
          <a:bodyPr wrap="square" lIns="0" tIns="0" rIns="0" bIns="0" rtlCol="0" anchor="ctr"/>
          <a:lstStyle/>
          <a:p>
            <a:pPr marL="0" indent="0" algn="ctr">
              <a:buNone/>
            </a:pPr>
            <a:r>
              <a:rPr lang="en-US" sz="1000" b="1" kern="0" spc="50" dirty="0">
                <a:solidFill>
                  <a:srgbClr val="2DD4BF"/>
                </a:solidFill>
                <a:latin typeface="IBM Plex Mono" pitchFamily="34" charset="0"/>
                <a:ea typeface="IBM Plex Mono" pitchFamily="34" charset="-122"/>
                <a:cs typeface="IBM Plex Mono" pitchFamily="34" charset="-120"/>
              </a:rPr>
              <a:t>RECOMMENDS ONLY</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Space Grotesk" pitchFamily="34" charset="0"/>
                <a:ea typeface="Space Grotesk" pitchFamily="34" charset="-122"/>
                <a:cs typeface="Space Grotesk" pitchFamily="34" charset="-120"/>
              </a:rPr>
              <a:t>Honest limits and next steps</a:t>
            </a:r>
            <a:endParaRPr lang="en-US" sz="2600" dirty="0"/>
          </a:p>
        </p:txBody>
      </p:sp>
      <p:sp>
        <p:nvSpPr>
          <p:cNvPr id="3" name="Subtitle"/>
          <p:cNvSpPr txBox="1"/>
          <p:nvPr/>
        </p:nvSpPr>
        <p:spPr>
          <a:xfrm>
            <a:off x="457200" y="804672"/>
            <a:ext cx="8229600" cy="320040"/>
          </a:xfrm>
          <a:prstGeom prst="rect">
            <a:avLst/>
          </a:prstGeom>
          <a:noFill/>
          <a:ln/>
        </p:spPr>
        <p:txBody>
          <a:bodyPr wrap="square" lIns="0" tIns="0" rIns="0" bIns="0" rtlCol="0" anchor="t"/>
          <a:lstStyle/>
          <a:p>
            <a:pPr marL="0" indent="0">
              <a:buNone/>
            </a:pPr>
            <a:r>
              <a:rPr lang="en-US" sz="1400" dirty="0">
                <a:solidFill>
                  <a:srgbClr val="9FB1CF"/>
                </a:solidFill>
                <a:latin typeface="Space Grotesk" pitchFamily="34" charset="0"/>
                <a:ea typeface="Space Grotesk" pitchFamily="34" charset="-122"/>
                <a:cs typeface="Space Grotesk" pitchFamily="34" charset="-120"/>
              </a:rPr>
              <a:t>What is true today — and what is future work</a:t>
            </a:r>
            <a:endParaRPr lang="en-US" sz="1400" dirty="0"/>
          </a:p>
        </p:txBody>
      </p:sp>
      <p:sp>
        <p:nvSpPr>
          <p:cNvPr id="4" name="Limits card"/>
          <p:cNvSpPr/>
          <p:nvPr/>
        </p:nvSpPr>
        <p:spPr>
          <a:xfrm>
            <a:off x="457200" y="1280160"/>
            <a:ext cx="4023360" cy="3108960"/>
          </a:xfrm>
          <a:prstGeom prst="roundRect">
            <a:avLst>
              <a:gd name="adj" fmla="val 2353"/>
            </a:avLst>
          </a:prstGeom>
          <a:solidFill>
            <a:srgbClr val="111E3A">
              <a:alpha val="92000"/>
            </a:srgbClr>
          </a:solidFill>
          <a:ln w="12700">
            <a:solidFill>
              <a:srgbClr val="27406B"/>
            </a:solidFill>
            <a:prstDash val="solid"/>
          </a:ln>
        </p:spPr>
      </p:sp>
      <p:sp>
        <p:nvSpPr>
          <p:cNvPr id="5" name="Today tag box"/>
          <p:cNvSpPr/>
          <p:nvPr/>
        </p:nvSpPr>
        <p:spPr>
          <a:xfrm>
            <a:off x="640080" y="1417320"/>
            <a:ext cx="822960" cy="256032"/>
          </a:xfrm>
          <a:prstGeom prst="roundRect">
            <a:avLst>
              <a:gd name="adj" fmla="val 17857"/>
            </a:avLst>
          </a:prstGeom>
          <a:solidFill>
            <a:srgbClr val="2DD4BF">
              <a:alpha val="15000"/>
            </a:srgbClr>
          </a:solidFill>
          <a:ln w="9525">
            <a:solidFill>
              <a:srgbClr val="2DD4BF"/>
            </a:solidFill>
            <a:prstDash val="solid"/>
          </a:ln>
        </p:spPr>
      </p:sp>
      <p:sp>
        <p:nvSpPr>
          <p:cNvPr id="6" name="Today tag text"/>
          <p:cNvSpPr txBox="1"/>
          <p:nvPr/>
        </p:nvSpPr>
        <p:spPr>
          <a:xfrm>
            <a:off x="640080" y="1417320"/>
            <a:ext cx="822960" cy="256032"/>
          </a:xfrm>
          <a:prstGeom prst="rect">
            <a:avLst/>
          </a:prstGeom>
          <a:noFill/>
          <a:ln/>
        </p:spPr>
        <p:txBody>
          <a:bodyPr wrap="square" lIns="0" tIns="0" rIns="0" bIns="0" rtlCol="0" anchor="ctr"/>
          <a:lstStyle/>
          <a:p>
            <a:pPr marL="0" indent="0" algn="ctr">
              <a:buNone/>
            </a:pPr>
            <a:r>
              <a:rPr lang="en-US" sz="1000" b="1" kern="0" spc="50" dirty="0">
                <a:solidFill>
                  <a:srgbClr val="2DD4BF"/>
                </a:solidFill>
                <a:latin typeface="IBM Plex Mono" pitchFamily="34" charset="0"/>
                <a:ea typeface="IBM Plex Mono" pitchFamily="34" charset="-122"/>
                <a:cs typeface="IBM Plex Mono" pitchFamily="34" charset="-120"/>
              </a:rPr>
              <a:t>TODAY</a:t>
            </a:r>
            <a:endParaRPr lang="en-US" sz="1000" dirty="0"/>
          </a:p>
        </p:txBody>
      </p:sp>
      <p:sp>
        <p:nvSpPr>
          <p:cNvPr id="7" name="Limits list"/>
          <p:cNvSpPr txBox="1"/>
          <p:nvPr/>
        </p:nvSpPr>
        <p:spPr>
          <a:xfrm>
            <a:off x="640080" y="1828800"/>
            <a:ext cx="3657600" cy="24688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Data is synthetic; a database connection does not make it real</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Outage and closure durations are planning assumptions, not forecasts</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Options are evaluated one position at a time</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No machine learning, so no accuracy claims</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Live Exasol read/write: pending verification</a:t>
            </a:r>
            <a:endParaRPr lang="en-US" sz="1300" dirty="0"/>
          </a:p>
        </p:txBody>
      </p:sp>
      <p:sp>
        <p:nvSpPr>
          <p:cNvPr id="8" name="Roadmap card"/>
          <p:cNvSpPr/>
          <p:nvPr/>
        </p:nvSpPr>
        <p:spPr>
          <a:xfrm>
            <a:off x="4663440" y="1280160"/>
            <a:ext cx="4023360" cy="3108960"/>
          </a:xfrm>
          <a:prstGeom prst="roundRect">
            <a:avLst>
              <a:gd name="adj" fmla="val 2353"/>
            </a:avLst>
          </a:prstGeom>
          <a:solidFill>
            <a:srgbClr val="111E3A">
              <a:alpha val="92000"/>
            </a:srgbClr>
          </a:solidFill>
          <a:ln w="12700">
            <a:solidFill>
              <a:srgbClr val="22D3EE"/>
            </a:solidFill>
            <a:prstDash val="solid"/>
          </a:ln>
        </p:spPr>
      </p:sp>
      <p:sp>
        <p:nvSpPr>
          <p:cNvPr id="9" name="Future tag box"/>
          <p:cNvSpPr/>
          <p:nvPr/>
        </p:nvSpPr>
        <p:spPr>
          <a:xfrm>
            <a:off x="4846320" y="1417320"/>
            <a:ext cx="1371600" cy="256032"/>
          </a:xfrm>
          <a:prstGeom prst="roundRect">
            <a:avLst>
              <a:gd name="adj" fmla="val 17857"/>
            </a:avLst>
          </a:prstGeom>
          <a:solidFill>
            <a:srgbClr val="22D3EE">
              <a:alpha val="15000"/>
            </a:srgbClr>
          </a:solidFill>
          <a:ln w="9525">
            <a:solidFill>
              <a:srgbClr val="22D3EE"/>
            </a:solidFill>
            <a:prstDash val="solid"/>
          </a:ln>
        </p:spPr>
      </p:sp>
      <p:sp>
        <p:nvSpPr>
          <p:cNvPr id="10" name="Future tag text"/>
          <p:cNvSpPr txBox="1"/>
          <p:nvPr/>
        </p:nvSpPr>
        <p:spPr>
          <a:xfrm>
            <a:off x="4846320" y="1417320"/>
            <a:ext cx="1371600" cy="256032"/>
          </a:xfrm>
          <a:prstGeom prst="rect">
            <a:avLst/>
          </a:prstGeom>
          <a:noFill/>
          <a:ln/>
        </p:spPr>
        <p:txBody>
          <a:bodyPr wrap="square" lIns="0" tIns="0" rIns="0" bIns="0" rtlCol="0" anchor="ctr"/>
          <a:lstStyle/>
          <a:p>
            <a:pPr marL="0" indent="0" algn="ctr">
              <a:buNone/>
            </a:pPr>
            <a:r>
              <a:rPr lang="en-US" sz="1000" b="1" kern="0" spc="50" dirty="0">
                <a:solidFill>
                  <a:srgbClr val="22D3EE"/>
                </a:solidFill>
                <a:latin typeface="IBM Plex Mono" pitchFamily="34" charset="0"/>
                <a:ea typeface="IBM Plex Mono" pitchFamily="34" charset="-122"/>
                <a:cs typeface="IBM Plex Mono" pitchFamily="34" charset="-120"/>
              </a:rPr>
              <a:t>FUTURE WORK</a:t>
            </a:r>
            <a:endParaRPr lang="en-US" sz="1000" dirty="0"/>
          </a:p>
        </p:txBody>
      </p:sp>
      <p:sp>
        <p:nvSpPr>
          <p:cNvPr id="11" name="Roadmap list"/>
          <p:cNvSpPr txBox="1"/>
          <p:nvPr/>
        </p:nvSpPr>
        <p:spPr>
          <a:xfrm>
            <a:off x="4846320" y="1828800"/>
            <a:ext cx="3657600" cy="24688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Validate against real operational data</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Add uncertainty analysis for durations and lead times</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Back-test against historical disruptions</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Combined multi-position recovery plans</a:t>
            </a:r>
            <a:endParaRPr lang="en-US" sz="1300" dirty="0"/>
          </a:p>
          <a:p>
            <a:pPr marL="177800" indent="-177800">
              <a:spcAft>
                <a:spcPts val="700"/>
              </a:spcAft>
              <a:buSzPct val="100000"/>
              <a:buChar char="•"/>
            </a:pPr>
            <a:r>
              <a:rPr lang="en-US" sz="1300" dirty="0">
                <a:solidFill>
                  <a:srgbClr val="FFFFFF"/>
                </a:solidFill>
                <a:latin typeface="Space Grotesk" pitchFamily="34" charset="0"/>
                <a:ea typeface="Space Grotesk" pitchFamily="34" charset="-122"/>
                <a:cs typeface="Space Grotesk" pitchFamily="34" charset="-120"/>
              </a:rPr>
              <a:t>Live ERP / WMS data feeds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F83A6"/>
                </a:solidFill>
                <a:latin typeface="IBM Plex Mono"/>
                <a:ea typeface="IBM Plex Mono"/>
                <a:cs typeface="IBM Plex Mono"/>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Quote marker"/>
          <p:cNvSpPr/>
          <p:nvPr/>
        </p:nvSpPr>
        <p:spPr>
          <a:xfrm>
            <a:off x="457200" y="1097280"/>
            <a:ext cx="64008" cy="1691640"/>
          </a:xfrm>
          <a:prstGeom prst="rect">
            <a:avLst/>
          </a:prstGeom>
          <a:solidFill>
            <a:srgbClr val="2DD4BF"/>
          </a:solidFill>
          <a:ln w="12700">
            <a:solidFill>
              <a:srgbClr val="2DD4BF"/>
            </a:solidFill>
            <a:prstDash val="solid"/>
          </a:ln>
        </p:spPr>
      </p:sp>
      <p:sp>
        <p:nvSpPr>
          <p:cNvPr id="3" name="Closing quote"/>
          <p:cNvSpPr txBox="1"/>
          <p:nvPr/>
        </p:nvSpPr>
        <p:spPr>
          <a:xfrm>
            <a:off x="731520" y="1051560"/>
            <a:ext cx="7680960" cy="178308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We cannot eliminate every disruption, but we can make better decisions before it becomes a crisis.</a:t>
            </a:r>
            <a:endParaRPr lang="en-US" sz="3000" dirty="0"/>
          </a:p>
        </p:txBody>
      </p:sp>
      <p:sp>
        <p:nvSpPr>
          <p:cNvPr id="4" name="Closing line"/>
          <p:cNvSpPr txBox="1"/>
          <p:nvPr/>
        </p:nvSpPr>
        <p:spPr>
          <a:xfrm>
            <a:off x="731520" y="3200400"/>
            <a:ext cx="7680960" cy="457200"/>
          </a:xfrm>
          <a:prstGeom prst="rect">
            <a:avLst/>
          </a:prstGeom>
          <a:noFill/>
          <a:ln/>
        </p:spPr>
        <p:txBody>
          <a:bodyPr wrap="square" lIns="0" tIns="0" rIns="0" bIns="0" rtlCol="0" anchor="ctr"/>
          <a:lstStyle/>
          <a:p>
            <a:pPr marL="0" indent="0">
              <a:buNone/>
            </a:pPr>
            <a:r>
              <a:rPr lang="en-US" sz="1800" dirty="0">
                <a:solidFill>
                  <a:srgbClr val="2DD4BF"/>
                </a:solidFill>
                <a:latin typeface="Space Grotesk" pitchFamily="34" charset="0"/>
                <a:ea typeface="Space Grotesk" pitchFamily="34" charset="-122"/>
                <a:cs typeface="Space Grotesk" pitchFamily="34" charset="-120"/>
              </a:rPr>
              <a:t>SupplyShield — turning supply-chain uncertainty into actionable decisions.</a:t>
            </a:r>
            <a:endParaRPr lang="en-US" sz="1800" dirty="0"/>
          </a:p>
        </p:txBody>
      </p:sp>
      <p:sp>
        <p:nvSpPr>
          <p:cNvPr id="5" name="Team line"/>
          <p:cNvSpPr txBox="1"/>
          <p:nvPr/>
        </p:nvSpPr>
        <p:spPr>
          <a:xfrm>
            <a:off x="731520" y="3977640"/>
            <a:ext cx="7680960" cy="274320"/>
          </a:xfrm>
          <a:prstGeom prst="rect">
            <a:avLst/>
          </a:prstGeom>
          <a:noFill/>
          <a:ln/>
        </p:spPr>
        <p:txBody>
          <a:bodyPr wrap="square" lIns="0" tIns="0" rIns="0" bIns="0" rtlCol="0" anchor="ctr"/>
          <a:lstStyle/>
          <a:p>
            <a:pPr marL="0" indent="0">
              <a:buNone/>
            </a:pPr>
            <a:r>
              <a:rPr lang="en-US" sz="1200" dirty="0">
                <a:solidFill>
                  <a:srgbClr val="22D3EE"/>
                </a:solidFill>
                <a:latin typeface="IBM Plex Mono" pitchFamily="34" charset="0"/>
                <a:ea typeface="IBM Plex Mono" pitchFamily="34" charset="-122"/>
                <a:cs typeface="IBM Plex Mono" pitchFamily="34" charset="-120"/>
              </a:rPr>
              <a:t>Team Vyntrix  |  ExaThon India 2026  |  Factories, Fleets &amp; Supply Chains</a:t>
            </a:r>
            <a:endParaRPr lang="en-US" sz="1200" dirty="0"/>
          </a:p>
        </p:txBody>
      </p:sp>
    </p:spTree>
  </p:cSld>
  <p:clrMapOvr>
    <a:masterClrMapping/>
  </p:clrMapOvr>
</p:sld>
</file>

<file path=ppt/theme/theme1.xml><?xml version="1.0" encoding="utf-8"?>
<a:theme xmlns:a="http://schemas.openxmlformats.org/drawingml/2006/main" name="SupplyShield Dark">
  <a:themeElements>
    <a:clrScheme name="SupplyShield Dark">
      <a:dk1>
        <a:srgbClr val="0A1428"/>
      </a:dk1>
      <a:lt1>
        <a:srgbClr val="FFFFFF"/>
      </a:lt1>
      <a:dk2>
        <a:srgbClr val="111E3A"/>
      </a:dk2>
      <a:lt2>
        <a:srgbClr val="9FB1CF"/>
      </a:lt2>
      <a:accent1>
        <a:srgbClr val="2DD4BF"/>
      </a:accent1>
      <a:accent2>
        <a:srgbClr val="22D3EE"/>
      </a:accent2>
      <a:accent3>
        <a:srgbClr val="F5B342"/>
      </a:accent3>
      <a:accent4>
        <a:srgbClr val="F0616D"/>
      </a:accent4>
      <a:accent5>
        <a:srgbClr val="6B7A99"/>
      </a:accent5>
      <a:accent6>
        <a:srgbClr val="27406B"/>
      </a:accent6>
      <a:hlink>
        <a:srgbClr val="22D3EE"/>
      </a:hlink>
      <a:folHlink>
        <a:srgbClr val="9FB1CF"/>
      </a:folHlink>
    </a:clrScheme>
    <a:fontScheme name="SupplyShield Dar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2327</Words>
  <Application>Microsoft Office PowerPoint</Application>
  <PresentationFormat>On-screen Show (16:9)</PresentationFormat>
  <Paragraphs>192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IBM Plex Mono</vt:lpstr>
      <vt:lpstr>Space Grotesk</vt:lpstr>
      <vt:lpstr>SupplyShield 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SupplyShield — Continuity Engine | ExaThon India 2026</dc:title>
  <dc:subject>PptxGenJS Presentation</dc:subject>
  <dc:creator>Team Vyntrix</dc:creator>
  <cp:lastModifiedBy>Krishna G</cp:lastModifiedBy>
  <cp:revision>2</cp:revision>
  <dcterms:created xsi:type="dcterms:W3CDTF">2026-10-25T09:01:52Z</dcterms:created>
  <dcterms:modified xsi:type="dcterms:W3CDTF">2026-10-25T13:21:53Z</dcterms:modified>
</cp:coreProperties>
</file>